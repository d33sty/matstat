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ppt/_rels/presentation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5.png" ContentType="image/png"/>
  <Override PartName="/ppt/media/image7.wmf" ContentType="image/x-wmf"/>
  <Override PartName="/ppt/media/image4.png" ContentType="image/png"/>
  <Override PartName="/ppt/media/image6.wmf" ContentType="image/x-wmf"/>
  <Override PartName="/ppt/media/image3.png" ContentType="image/png"/>
  <Override PartName="/ppt/media/image10.wmf" ContentType="image/x-wmf"/>
  <Override PartName="/ppt/media/image8.wmf" ContentType="image/x-wmf"/>
  <Override PartName="/ppt/media/image11.wmf" ContentType="image/x-wmf"/>
  <Override PartName="/ppt/media/image9.wmf" ContentType="image/x-wmf"/>
  <Override PartName="/ppt/media/image2.png" ContentType="image/png"/>
  <Override PartName="/ppt/media/image1.png" ContentType="image/png"/>
  <Override PartName="/ppt/embeddings/oleObject1.bin" ContentType="application/vnd.openxmlformats-officedocument.oleObject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471CE0-9258-49F9-A7E0-68B882E379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41E0BB-16B0-4A12-B30B-460E8CD320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BA6A7C-8BC2-4E51-BFE5-3F03BAD9B3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1A839B-9D46-43CF-B741-EB9D2A1A23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72B688-D535-49D3-857B-2C5E93476F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D1C35E-FF85-4BC5-AB7F-EC53D3CF93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B92115-228F-4554-8F94-F690FB6DBD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DF7B96-8FCC-44D8-85E9-28CEC0C5D8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232E26-3B0B-4385-8604-C19451CCE7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FF34B9-8B36-4325-9D8C-34C15D6543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6F2A68-92DD-417F-95FE-99C9AE8985C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4E5D0B-31EC-47FA-A0AF-144192F9845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37BF84-F3A2-4A57-9DE7-8A56AFBD6E48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wmf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7.wmf"/><Relationship Id="rId8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8.wmf"/><Relationship Id="rId8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9.wmf"/><Relationship Id="rId8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wmf"/><Relationship Id="rId6" Type="http://schemas.openxmlformats.org/officeDocument/2006/relationships/oleObject" Target="../embeddings/oleObject1.bin"/><Relationship Id="rId7" Type="http://schemas.openxmlformats.org/officeDocument/2006/relationships/image" Target="../media/image11.wmf"/><Relationship Id="rId8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14040" y="2130120"/>
            <a:ext cx="10363320" cy="1469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ru-RU" sz="4000" spc="-1" strike="noStrike">
                <a:solidFill>
                  <a:srgbClr val="0563c1"/>
                </a:solidFill>
                <a:latin typeface="Arial"/>
              </a:rPr>
              <a:t>Оценка </a:t>
            </a:r>
            <a:r>
              <a:rPr b="1" i="1" lang="ru-RU" sz="4000" spc="-1" strike="noStrike" u="sng">
                <a:solidFill>
                  <a:srgbClr val="0563c1"/>
                </a:solidFill>
                <a:uFillTx/>
                <a:latin typeface="Arial"/>
              </a:rPr>
              <a:t>систематической </a:t>
            </a:r>
            <a:r>
              <a:rPr b="1" i="1" lang="ru-RU" sz="4000" spc="-1" strike="noStrike">
                <a:solidFill>
                  <a:srgbClr val="0563c1"/>
                </a:solidFill>
                <a:latin typeface="Arial"/>
              </a:rPr>
              <a:t>погрешности средств измерения (СИ)</a:t>
            </a: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11676240" cy="3746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uk-UA" sz="4800" spc="-1" strike="noStrike">
                <a:solidFill>
                  <a:srgbClr val="0563c1"/>
                </a:solidFill>
                <a:latin typeface="Calibri Light"/>
              </a:rPr>
              <a:t>Требования </a:t>
            </a:r>
            <a:br>
              <a:rPr sz="4800"/>
            </a:br>
            <a:r>
              <a:rPr b="1" i="1" lang="uk-UA" sz="4800" spc="-1" strike="noStrike">
                <a:solidFill>
                  <a:srgbClr val="0563c1"/>
                </a:solidFill>
                <a:latin typeface="Calibri Light"/>
              </a:rPr>
              <a:t>нормативно-правового акта  </a:t>
            </a:r>
            <a:r>
              <a:rPr b="1" i="1" lang="ru-RU" sz="4800" spc="-1" strike="noStrike">
                <a:solidFill>
                  <a:srgbClr val="0563c1"/>
                </a:solidFill>
                <a:latin typeface="Calibri Light"/>
              </a:rPr>
              <a:t>1/14-НПА  2014г.</a:t>
            </a:r>
            <a:br>
              <a:rPr sz="4800"/>
            </a:br>
            <a:r>
              <a:rPr b="1" i="1" lang="uk-UA" sz="4800" spc="-1" strike="noStrike">
                <a:solidFill>
                  <a:srgbClr val="0563c1"/>
                </a:solidFill>
                <a:latin typeface="Calibri Light"/>
              </a:rPr>
              <a:t>по испытаниям средств измерений</a:t>
            </a:r>
            <a:endParaRPr b="0" lang="en-US" sz="4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25600" y="3593880"/>
            <a:ext cx="10515600" cy="177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000"/>
          </a:bodyPr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Нормативно-правовой акт ГК  «Росатом»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«Об утверждении метрологических требований к измерениям, эталонам  единиц величин, стандартным образцам, средствам измерений, их составным частям, программному обеспечению, методикам (методам) измерений, применяемым в области использования атомной энергии».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Box 4"/>
          <p:cNvSpPr/>
          <p:nvPr/>
        </p:nvSpPr>
        <p:spPr>
          <a:xfrm>
            <a:off x="387360" y="1325520"/>
            <a:ext cx="11112480" cy="2653560"/>
          </a:xfrm>
          <a:prstGeom prst="rect">
            <a:avLst/>
          </a:prstGeom>
          <a:solidFill>
            <a:srgbClr val="cc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Есть СИ (средство измерения)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Надо определить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Абсолютную и относительную погрешность измерения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или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Произвести поверку СИ – определить метрологические характеристики – систематическую погрешность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Box 5"/>
          <p:cNvSpPr/>
          <p:nvPr/>
        </p:nvSpPr>
        <p:spPr>
          <a:xfrm>
            <a:off x="3997440" y="4713120"/>
            <a:ext cx="7375320" cy="1800360"/>
          </a:xfrm>
          <a:prstGeom prst="rect">
            <a:avLst/>
          </a:prstGeom>
          <a:solidFill>
            <a:srgbClr val="ccffcc"/>
          </a:solidFill>
          <a:ln w="9360">
            <a:solidFill>
              <a:srgbClr val="ccff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Используем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эталон с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известным значением эталона </a:t>
            </a:r>
            <a:r>
              <a:rPr b="1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Х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эталона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с известной погрешностью эталона </a:t>
            </a:r>
            <a:r>
              <a:rPr b="1" lang="el-GR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Δ</a:t>
            </a:r>
            <a:r>
              <a:rPr b="1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Заголовок 1"/>
          <p:cNvSpPr/>
          <p:nvPr/>
        </p:nvSpPr>
        <p:spPr>
          <a:xfrm>
            <a:off x="0" y="0"/>
            <a:ext cx="1219212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pc="-1" strike="noStrike">
                <a:solidFill>
                  <a:srgbClr val="0563c1"/>
                </a:solidFill>
                <a:latin typeface="Calibri Light"/>
              </a:rPr>
              <a:t>Оценивание характеристик погрешности СИ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-360" y="-360"/>
            <a:ext cx="12192120" cy="1003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pc="-1" strike="noStrike">
                <a:solidFill>
                  <a:srgbClr val="0563c1"/>
                </a:solidFill>
                <a:latin typeface="Calibri Light"/>
              </a:rPr>
              <a:t>Оценивание характеристик погрешности СИ</a:t>
            </a:r>
            <a:br>
              <a:rPr sz="4000"/>
            </a:br>
            <a:r>
              <a:rPr b="1" i="1" lang="en-US" sz="2400" spc="-1" strike="noStrike">
                <a:solidFill>
                  <a:srgbClr val="0563c1"/>
                </a:solidFill>
                <a:latin typeface="Arial"/>
              </a:rPr>
              <a:t>методика на одном слайде</a:t>
            </a:r>
            <a:r>
              <a:rPr b="1" i="1" lang="en-US" sz="4000" spc="-1" strike="noStrike">
                <a:solidFill>
                  <a:srgbClr val="0563c1"/>
                </a:solidFill>
                <a:latin typeface="Arial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48" name="Объект 2" descr=""/>
          <p:cNvPicPr/>
          <p:nvPr/>
        </p:nvPicPr>
        <p:blipFill>
          <a:blip r:embed="rId1"/>
          <a:stretch/>
        </p:blipFill>
        <p:spPr>
          <a:xfrm>
            <a:off x="60480" y="1090440"/>
            <a:ext cx="12137760" cy="6274080"/>
          </a:xfrm>
          <a:prstGeom prst="rect">
            <a:avLst/>
          </a:prstGeom>
          <a:ln w="0">
            <a:noFill/>
          </a:ln>
        </p:spPr>
      </p:pic>
      <p:cxnSp>
        <p:nvCxnSpPr>
          <p:cNvPr id="49" name="Прямая со стрелкой 52"/>
          <p:cNvCxnSpPr/>
          <p:nvPr/>
        </p:nvCxnSpPr>
        <p:spPr>
          <a:xfrm flipV="1">
            <a:off x="1092240" y="4031640"/>
            <a:ext cx="10740240" cy="59400"/>
          </a:xfrm>
          <a:prstGeom prst="straightConnector1">
            <a:avLst/>
          </a:prstGeom>
          <a:ln w="6480">
            <a:solidFill>
              <a:srgbClr val="000000"/>
            </a:solidFill>
            <a:miter/>
            <a:tailEnd len="med" type="triangle" w="med"/>
          </a:ln>
        </p:spPr>
      </p:cxnSp>
      <p:pic>
        <p:nvPicPr>
          <p:cNvPr id="50" name="TextBox 59" descr=""/>
          <p:cNvPicPr/>
          <p:nvPr/>
        </p:nvPicPr>
        <p:blipFill>
          <a:blip r:embed="rId2"/>
          <a:stretch/>
        </p:blipFill>
        <p:spPr>
          <a:xfrm>
            <a:off x="3108240" y="4286160"/>
            <a:ext cx="835200" cy="596880"/>
          </a:xfrm>
          <a:prstGeom prst="rect">
            <a:avLst/>
          </a:prstGeom>
          <a:ln w="0">
            <a:noFill/>
          </a:ln>
        </p:spPr>
      </p:pic>
      <p:pic>
        <p:nvPicPr>
          <p:cNvPr id="51" name="Объект 9" descr=""/>
          <p:cNvPicPr/>
          <p:nvPr/>
        </p:nvPicPr>
        <p:blipFill>
          <a:blip r:embed="rId3"/>
          <a:stretch/>
        </p:blipFill>
        <p:spPr>
          <a:xfrm>
            <a:off x="5291280" y="1859040"/>
            <a:ext cx="2712960" cy="615960"/>
          </a:xfrm>
          <a:prstGeom prst="rect">
            <a:avLst/>
          </a:prstGeom>
          <a:ln w="9360">
            <a:solidFill>
              <a:srgbClr val="993300"/>
            </a:solidFill>
            <a:miter/>
          </a:ln>
        </p:spPr>
      </p:pic>
      <p:sp>
        <p:nvSpPr>
          <p:cNvPr id="52" name="Прямая соединительная линия 4"/>
          <p:cNvSpPr/>
          <p:nvPr/>
        </p:nvSpPr>
        <p:spPr>
          <a:xfrm>
            <a:off x="3398760" y="3390840"/>
            <a:ext cx="0" cy="8366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Прямая соединительная линия 7"/>
          <p:cNvSpPr/>
          <p:nvPr/>
        </p:nvSpPr>
        <p:spPr>
          <a:xfrm>
            <a:off x="2238480" y="3414600"/>
            <a:ext cx="0" cy="8384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Прямая соединительная линия 9"/>
          <p:cNvSpPr/>
          <p:nvPr/>
        </p:nvSpPr>
        <p:spPr>
          <a:xfrm>
            <a:off x="4549680" y="3432240"/>
            <a:ext cx="0" cy="83016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5" name="Прямая со стрелкой 15"/>
          <p:cNvCxnSpPr/>
          <p:nvPr/>
        </p:nvCxnSpPr>
        <p:spPr>
          <a:xfrm>
            <a:off x="2266920" y="3532320"/>
            <a:ext cx="1161360" cy="360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cxnSp>
        <p:nvCxnSpPr>
          <p:cNvPr id="56" name="Прямая со стрелкой 23"/>
          <p:cNvCxnSpPr/>
          <p:nvPr/>
        </p:nvCxnSpPr>
        <p:spPr>
          <a:xfrm>
            <a:off x="809424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sp>
        <p:nvSpPr>
          <p:cNvPr id="57" name="TextBox 17"/>
          <p:cNvSpPr/>
          <p:nvPr/>
        </p:nvSpPr>
        <p:spPr>
          <a:xfrm>
            <a:off x="2498760" y="269568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8" name="Прямая со стрелкой 26"/>
          <p:cNvCxnSpPr/>
          <p:nvPr/>
        </p:nvCxnSpPr>
        <p:spPr>
          <a:xfrm>
            <a:off x="3412800" y="3547800"/>
            <a:ext cx="1161000" cy="396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59" name="TextBox 28"/>
          <p:cNvSpPr/>
          <p:nvPr/>
        </p:nvSpPr>
        <p:spPr>
          <a:xfrm>
            <a:off x="3673440" y="271944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Прямая соединительная линия 32"/>
          <p:cNvSpPr/>
          <p:nvPr/>
        </p:nvSpPr>
        <p:spPr>
          <a:xfrm>
            <a:off x="9489960" y="3421080"/>
            <a:ext cx="14400" cy="95400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Прямая соединительная линия 42"/>
          <p:cNvSpPr/>
          <p:nvPr/>
        </p:nvSpPr>
        <p:spPr>
          <a:xfrm>
            <a:off x="8113680" y="3471840"/>
            <a:ext cx="22320" cy="89712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Прямая соединительная линия 43"/>
          <p:cNvSpPr/>
          <p:nvPr/>
        </p:nvSpPr>
        <p:spPr>
          <a:xfrm>
            <a:off x="10858680" y="3414600"/>
            <a:ext cx="14040" cy="95436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3" name="Прямая со стрелкой 45"/>
          <p:cNvCxnSpPr/>
          <p:nvPr/>
        </p:nvCxnSpPr>
        <p:spPr>
          <a:xfrm>
            <a:off x="950400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pic>
        <p:nvPicPr>
          <p:cNvPr id="64" name="TextBox 47" descr=""/>
          <p:cNvPicPr/>
          <p:nvPr/>
        </p:nvPicPr>
        <p:blipFill>
          <a:blip r:embed="rId4"/>
          <a:stretch/>
        </p:blipFill>
        <p:spPr>
          <a:xfrm>
            <a:off x="9320040" y="4425840"/>
            <a:ext cx="525600" cy="596880"/>
          </a:xfrm>
          <a:prstGeom prst="rect">
            <a:avLst/>
          </a:prstGeom>
          <a:ln w="0">
            <a:noFill/>
          </a:ln>
        </p:spPr>
      </p:pic>
      <p:sp>
        <p:nvSpPr>
          <p:cNvPr id="65" name="Прямая соединительная линия 37"/>
          <p:cNvSpPr/>
          <p:nvPr/>
        </p:nvSpPr>
        <p:spPr>
          <a:xfrm flipV="1">
            <a:off x="3386160" y="1726920"/>
            <a:ext cx="1440" cy="166356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Прямая соединительная линия 39"/>
          <p:cNvSpPr/>
          <p:nvPr/>
        </p:nvSpPr>
        <p:spPr>
          <a:xfrm flipH="1" flipV="1">
            <a:off x="9461520" y="1738440"/>
            <a:ext cx="15840" cy="168408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7" name="Прямая со стрелкой 41"/>
          <p:cNvCxnSpPr/>
          <p:nvPr/>
        </p:nvCxnSpPr>
        <p:spPr>
          <a:xfrm>
            <a:off x="3352680" y="1794960"/>
            <a:ext cx="6122160" cy="108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68" name="TextBox 55"/>
          <p:cNvSpPr/>
          <p:nvPr/>
        </p:nvSpPr>
        <p:spPr>
          <a:xfrm>
            <a:off x="8562960" y="2824200"/>
            <a:ext cx="574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57"/>
          <p:cNvSpPr/>
          <p:nvPr/>
        </p:nvSpPr>
        <p:spPr>
          <a:xfrm>
            <a:off x="10044000" y="2847960"/>
            <a:ext cx="574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Прямоугольник 13" descr=""/>
          <p:cNvPicPr/>
          <p:nvPr/>
        </p:nvPicPr>
        <p:blipFill>
          <a:blip r:embed="rId5"/>
          <a:stretch/>
        </p:blipFill>
        <p:spPr>
          <a:xfrm>
            <a:off x="7980480" y="4724280"/>
            <a:ext cx="3717720" cy="974880"/>
          </a:xfrm>
          <a:prstGeom prst="rect">
            <a:avLst/>
          </a:prstGeom>
          <a:ln w="0">
            <a:noFill/>
          </a:ln>
        </p:spPr>
      </p:pic>
      <p:sp>
        <p:nvSpPr>
          <p:cNvPr id="71" name="TextBox 35"/>
          <p:cNvSpPr/>
          <p:nvPr/>
        </p:nvSpPr>
        <p:spPr>
          <a:xfrm>
            <a:off x="353880" y="4900680"/>
            <a:ext cx="704556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 </a:t>
            </a:r>
            <a:r>
              <a:rPr b="0" lang="ru-RU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– 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пределы (равномерное, Р=1)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6"/>
          <a:stretch/>
        </p:blipFill>
        <p:spPr>
          <a:xfrm>
            <a:off x="9902880" y="1535040"/>
            <a:ext cx="2289240" cy="963720"/>
          </a:xfrm>
          <a:prstGeom prst="rect">
            <a:avLst/>
          </a:prstGeom>
          <a:ln w="9360">
            <a:solidFill>
              <a:srgbClr val="993300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ru-RU" sz="4000" spc="-1" strike="noStrike">
                <a:solidFill>
                  <a:srgbClr val="0563c1"/>
                </a:solidFill>
                <a:latin typeface="Arial"/>
              </a:rPr>
              <a:t>Методика по шагам</a:t>
            </a:r>
            <a:br>
              <a:rPr sz="4000"/>
            </a:br>
            <a:br>
              <a:rPr sz="4000"/>
            </a:br>
            <a:r>
              <a:rPr b="1" i="1" lang="ru-RU" sz="4000" spc="-1" strike="noStrike">
                <a:solidFill>
                  <a:srgbClr val="0563c1"/>
                </a:solidFill>
                <a:latin typeface="Arial"/>
              </a:rPr>
              <a:t>ШАГИ 1-8</a:t>
            </a: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Объект 2" descr=""/>
          <p:cNvPicPr/>
          <p:nvPr/>
        </p:nvPicPr>
        <p:blipFill>
          <a:blip r:embed="rId1"/>
          <a:stretch/>
        </p:blipFill>
        <p:spPr>
          <a:xfrm>
            <a:off x="60480" y="1090440"/>
            <a:ext cx="12137760" cy="6274080"/>
          </a:xfrm>
          <a:prstGeom prst="rect">
            <a:avLst/>
          </a:prstGeom>
          <a:ln w="0">
            <a:noFill/>
          </a:ln>
        </p:spPr>
      </p:pic>
      <p:cxnSp>
        <p:nvCxnSpPr>
          <p:cNvPr id="75" name="Прямая со стрелкой 52"/>
          <p:cNvCxnSpPr/>
          <p:nvPr/>
        </p:nvCxnSpPr>
        <p:spPr>
          <a:xfrm flipV="1">
            <a:off x="1092240" y="4031640"/>
            <a:ext cx="10740240" cy="59400"/>
          </a:xfrm>
          <a:prstGeom prst="straightConnector1">
            <a:avLst/>
          </a:prstGeom>
          <a:ln w="6480">
            <a:solidFill>
              <a:srgbClr val="000000"/>
            </a:solidFill>
            <a:miter/>
            <a:tailEnd len="med" type="triangle" w="med"/>
          </a:ln>
        </p:spPr>
      </p:cxnSp>
      <p:pic>
        <p:nvPicPr>
          <p:cNvPr id="76" name="TextBox 59" descr=""/>
          <p:cNvPicPr/>
          <p:nvPr/>
        </p:nvPicPr>
        <p:blipFill>
          <a:blip r:embed="rId2"/>
          <a:stretch/>
        </p:blipFill>
        <p:spPr>
          <a:xfrm>
            <a:off x="3108240" y="4286160"/>
            <a:ext cx="835200" cy="596880"/>
          </a:xfrm>
          <a:prstGeom prst="rect">
            <a:avLst/>
          </a:prstGeom>
          <a:ln w="0">
            <a:noFill/>
          </a:ln>
        </p:spPr>
      </p:pic>
      <p:pic>
        <p:nvPicPr>
          <p:cNvPr id="77" name="Объект 9" descr=""/>
          <p:cNvPicPr/>
          <p:nvPr/>
        </p:nvPicPr>
        <p:blipFill>
          <a:blip r:embed="rId3"/>
          <a:stretch/>
        </p:blipFill>
        <p:spPr>
          <a:xfrm>
            <a:off x="5291280" y="1859040"/>
            <a:ext cx="2712960" cy="615960"/>
          </a:xfrm>
          <a:prstGeom prst="rect">
            <a:avLst/>
          </a:prstGeom>
          <a:ln w="9360">
            <a:solidFill>
              <a:srgbClr val="993300"/>
            </a:solidFill>
            <a:miter/>
          </a:ln>
        </p:spPr>
      </p:pic>
      <p:sp>
        <p:nvSpPr>
          <p:cNvPr id="78" name="Прямая соединительная линия 4"/>
          <p:cNvSpPr/>
          <p:nvPr/>
        </p:nvSpPr>
        <p:spPr>
          <a:xfrm>
            <a:off x="3398760" y="3390840"/>
            <a:ext cx="0" cy="8366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Прямая соединительная линия 7"/>
          <p:cNvSpPr/>
          <p:nvPr/>
        </p:nvSpPr>
        <p:spPr>
          <a:xfrm>
            <a:off x="2238480" y="3414600"/>
            <a:ext cx="0" cy="8384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Прямая соединительная линия 9"/>
          <p:cNvSpPr/>
          <p:nvPr/>
        </p:nvSpPr>
        <p:spPr>
          <a:xfrm>
            <a:off x="4549680" y="3432240"/>
            <a:ext cx="0" cy="83016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1" name="Прямая со стрелкой 15"/>
          <p:cNvCxnSpPr/>
          <p:nvPr/>
        </p:nvCxnSpPr>
        <p:spPr>
          <a:xfrm>
            <a:off x="2266920" y="3532320"/>
            <a:ext cx="1161360" cy="360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cxnSp>
        <p:nvCxnSpPr>
          <p:cNvPr id="82" name="Прямая со стрелкой 23"/>
          <p:cNvCxnSpPr/>
          <p:nvPr/>
        </p:nvCxnSpPr>
        <p:spPr>
          <a:xfrm>
            <a:off x="809424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sp>
        <p:nvSpPr>
          <p:cNvPr id="83" name="TextBox 17"/>
          <p:cNvSpPr/>
          <p:nvPr/>
        </p:nvSpPr>
        <p:spPr>
          <a:xfrm>
            <a:off x="2498760" y="269568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" name="Прямая со стрелкой 26"/>
          <p:cNvCxnSpPr/>
          <p:nvPr/>
        </p:nvCxnSpPr>
        <p:spPr>
          <a:xfrm>
            <a:off x="3412800" y="3547800"/>
            <a:ext cx="1161000" cy="396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85" name="TextBox 28"/>
          <p:cNvSpPr/>
          <p:nvPr/>
        </p:nvSpPr>
        <p:spPr>
          <a:xfrm>
            <a:off x="3673440" y="271944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Прямая соединительная линия 32"/>
          <p:cNvSpPr/>
          <p:nvPr/>
        </p:nvSpPr>
        <p:spPr>
          <a:xfrm>
            <a:off x="9489960" y="3421080"/>
            <a:ext cx="14400" cy="95400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Прямая соединительная линия 42"/>
          <p:cNvSpPr/>
          <p:nvPr/>
        </p:nvSpPr>
        <p:spPr>
          <a:xfrm>
            <a:off x="8113680" y="3471840"/>
            <a:ext cx="22320" cy="89712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Прямая соединительная линия 43"/>
          <p:cNvSpPr/>
          <p:nvPr/>
        </p:nvSpPr>
        <p:spPr>
          <a:xfrm>
            <a:off x="10858680" y="3414600"/>
            <a:ext cx="14040" cy="95436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9" name="Прямая со стрелкой 45"/>
          <p:cNvCxnSpPr/>
          <p:nvPr/>
        </p:nvCxnSpPr>
        <p:spPr>
          <a:xfrm>
            <a:off x="950400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pic>
        <p:nvPicPr>
          <p:cNvPr id="90" name="TextBox 47" descr=""/>
          <p:cNvPicPr/>
          <p:nvPr/>
        </p:nvPicPr>
        <p:blipFill>
          <a:blip r:embed="rId4"/>
          <a:stretch/>
        </p:blipFill>
        <p:spPr>
          <a:xfrm>
            <a:off x="9320040" y="4425840"/>
            <a:ext cx="525600" cy="596880"/>
          </a:xfrm>
          <a:prstGeom prst="rect">
            <a:avLst/>
          </a:prstGeom>
          <a:ln w="0">
            <a:noFill/>
          </a:ln>
        </p:spPr>
      </p:pic>
      <p:sp>
        <p:nvSpPr>
          <p:cNvPr id="91" name="Прямая соединительная линия 37"/>
          <p:cNvSpPr/>
          <p:nvPr/>
        </p:nvSpPr>
        <p:spPr>
          <a:xfrm flipV="1">
            <a:off x="3386160" y="1726920"/>
            <a:ext cx="1440" cy="166356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Прямая соединительная линия 39"/>
          <p:cNvSpPr/>
          <p:nvPr/>
        </p:nvSpPr>
        <p:spPr>
          <a:xfrm flipH="1" flipV="1">
            <a:off x="9461520" y="1738440"/>
            <a:ext cx="15840" cy="168408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Прямая со стрелкой 41"/>
          <p:cNvCxnSpPr/>
          <p:nvPr/>
        </p:nvCxnSpPr>
        <p:spPr>
          <a:xfrm>
            <a:off x="3417840" y="1725120"/>
            <a:ext cx="6122160" cy="108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94" name="TextBox 55"/>
          <p:cNvSpPr/>
          <p:nvPr/>
        </p:nvSpPr>
        <p:spPr>
          <a:xfrm>
            <a:off x="8562960" y="2824200"/>
            <a:ext cx="574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57"/>
          <p:cNvSpPr/>
          <p:nvPr/>
        </p:nvSpPr>
        <p:spPr>
          <a:xfrm>
            <a:off x="10044000" y="2847960"/>
            <a:ext cx="574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Прямоугольник 13" descr=""/>
          <p:cNvPicPr/>
          <p:nvPr/>
        </p:nvPicPr>
        <p:blipFill>
          <a:blip r:embed="rId5"/>
          <a:stretch/>
        </p:blipFill>
        <p:spPr>
          <a:xfrm>
            <a:off x="7980480" y="4724280"/>
            <a:ext cx="3717720" cy="974880"/>
          </a:xfrm>
          <a:prstGeom prst="rect">
            <a:avLst/>
          </a:prstGeom>
          <a:ln w="0">
            <a:noFill/>
          </a:ln>
        </p:spPr>
      </p:pic>
      <p:sp>
        <p:nvSpPr>
          <p:cNvPr id="97" name="TextBox 35"/>
          <p:cNvSpPr/>
          <p:nvPr/>
        </p:nvSpPr>
        <p:spPr>
          <a:xfrm>
            <a:off x="353880" y="4900680"/>
            <a:ext cx="704556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 </a:t>
            </a:r>
            <a:r>
              <a:rPr b="0" lang="ru-RU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– 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пределы (равномерное, Р=1)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Line 27"/>
          <p:cNvSpPr/>
          <p:nvPr/>
        </p:nvSpPr>
        <p:spPr>
          <a:xfrm flipH="1">
            <a:off x="9486720" y="1374840"/>
            <a:ext cx="1301400" cy="2649600"/>
          </a:xfrm>
          <a:prstGeom prst="line">
            <a:avLst/>
          </a:prstGeom>
          <a:ln w="1713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Box 28"/>
          <p:cNvSpPr/>
          <p:nvPr/>
        </p:nvSpPr>
        <p:spPr>
          <a:xfrm>
            <a:off x="0" y="0"/>
            <a:ext cx="102632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400" spc="-1" strike="noStrike">
                <a:solidFill>
                  <a:srgbClr val="ff0000"/>
                </a:solidFill>
                <a:latin typeface="Arial"/>
              </a:rPr>
              <a:t>ШАГ 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400" spc="-1" strike="noStrike">
                <a:solidFill>
                  <a:srgbClr val="ff0000"/>
                </a:solidFill>
                <a:latin typeface="Arial"/>
              </a:rPr>
              <a:t>Оценка мат.ожидания значением среднего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10085400" y="0"/>
          <a:ext cx="1822320" cy="1050840"/>
        </p:xfrm>
        <a:graphic>
          <a:graphicData uri="http://schemas.openxmlformats.org/presentationml/2006/ole">
            <p:oleObj r:id="rId6" spid="">
              <p:embed/>
              <p:pic>
                <p:nvPicPr>
                  <p:cNvPr id="101" name="" descr=""/>
                  <p:cNvPicPr/>
                  <p:nvPr/>
                </p:nvPicPr>
                <p:blipFill>
                  <a:blip r:embed="rId7"/>
                  <a:stretch/>
                </p:blipFill>
                <p:spPr>
                  <a:xfrm>
                    <a:off x="10085400" y="0"/>
                    <a:ext cx="1822320" cy="1050840"/>
                  </a:xfrm>
                  <a:prstGeom prst="rect">
                    <a:avLst/>
                  </a:prstGeom>
                  <a:ln w="9360">
                    <a:solidFill>
                      <a:srgbClr val="ff0000"/>
                    </a:solidFill>
                    <a:miter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Объект 2" descr=""/>
          <p:cNvPicPr/>
          <p:nvPr/>
        </p:nvPicPr>
        <p:blipFill>
          <a:blip r:embed="rId1"/>
          <a:stretch/>
        </p:blipFill>
        <p:spPr>
          <a:xfrm>
            <a:off x="60480" y="1090440"/>
            <a:ext cx="12137760" cy="6274080"/>
          </a:xfrm>
          <a:prstGeom prst="rect">
            <a:avLst/>
          </a:prstGeom>
          <a:ln w="0">
            <a:noFill/>
          </a:ln>
        </p:spPr>
      </p:pic>
      <p:cxnSp>
        <p:nvCxnSpPr>
          <p:cNvPr id="103" name="Прямая со стрелкой 52"/>
          <p:cNvCxnSpPr/>
          <p:nvPr/>
        </p:nvCxnSpPr>
        <p:spPr>
          <a:xfrm flipV="1">
            <a:off x="1092240" y="4031640"/>
            <a:ext cx="10740240" cy="59400"/>
          </a:xfrm>
          <a:prstGeom prst="straightConnector1">
            <a:avLst/>
          </a:prstGeom>
          <a:ln w="6480">
            <a:solidFill>
              <a:srgbClr val="000000"/>
            </a:solidFill>
            <a:miter/>
            <a:tailEnd len="med" type="triangle" w="med"/>
          </a:ln>
        </p:spPr>
      </p:cxnSp>
      <p:pic>
        <p:nvPicPr>
          <p:cNvPr id="104" name="TextBox 59" descr=""/>
          <p:cNvPicPr/>
          <p:nvPr/>
        </p:nvPicPr>
        <p:blipFill>
          <a:blip r:embed="rId2"/>
          <a:stretch/>
        </p:blipFill>
        <p:spPr>
          <a:xfrm>
            <a:off x="3108240" y="4286160"/>
            <a:ext cx="835200" cy="596880"/>
          </a:xfrm>
          <a:prstGeom prst="rect">
            <a:avLst/>
          </a:prstGeom>
          <a:ln w="0">
            <a:noFill/>
          </a:ln>
        </p:spPr>
      </p:pic>
      <p:pic>
        <p:nvPicPr>
          <p:cNvPr id="105" name="Объект 9" descr=""/>
          <p:cNvPicPr/>
          <p:nvPr/>
        </p:nvPicPr>
        <p:blipFill>
          <a:blip r:embed="rId3"/>
          <a:stretch/>
        </p:blipFill>
        <p:spPr>
          <a:xfrm>
            <a:off x="5291280" y="1859040"/>
            <a:ext cx="2712960" cy="615960"/>
          </a:xfrm>
          <a:prstGeom prst="rect">
            <a:avLst/>
          </a:prstGeom>
          <a:ln w="0">
            <a:noFill/>
          </a:ln>
        </p:spPr>
      </p:pic>
      <p:sp>
        <p:nvSpPr>
          <p:cNvPr id="106" name="Прямая соединительная линия 4"/>
          <p:cNvSpPr/>
          <p:nvPr/>
        </p:nvSpPr>
        <p:spPr>
          <a:xfrm>
            <a:off x="3398760" y="3390840"/>
            <a:ext cx="0" cy="8366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Прямая соединительная линия 7"/>
          <p:cNvSpPr/>
          <p:nvPr/>
        </p:nvSpPr>
        <p:spPr>
          <a:xfrm>
            <a:off x="2238480" y="3414600"/>
            <a:ext cx="0" cy="8384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Прямая соединительная линия 9"/>
          <p:cNvSpPr/>
          <p:nvPr/>
        </p:nvSpPr>
        <p:spPr>
          <a:xfrm>
            <a:off x="4549680" y="3432240"/>
            <a:ext cx="0" cy="83016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9" name="Прямая со стрелкой 15"/>
          <p:cNvCxnSpPr/>
          <p:nvPr/>
        </p:nvCxnSpPr>
        <p:spPr>
          <a:xfrm>
            <a:off x="2266920" y="3532320"/>
            <a:ext cx="1161360" cy="360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cxnSp>
        <p:nvCxnSpPr>
          <p:cNvPr id="110" name="Прямая со стрелкой 23"/>
          <p:cNvCxnSpPr/>
          <p:nvPr/>
        </p:nvCxnSpPr>
        <p:spPr>
          <a:xfrm>
            <a:off x="809424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sp>
        <p:nvSpPr>
          <p:cNvPr id="111" name="TextBox 17"/>
          <p:cNvSpPr/>
          <p:nvPr/>
        </p:nvSpPr>
        <p:spPr>
          <a:xfrm>
            <a:off x="2498760" y="269568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2" name="Прямая со стрелкой 26"/>
          <p:cNvCxnSpPr/>
          <p:nvPr/>
        </p:nvCxnSpPr>
        <p:spPr>
          <a:xfrm>
            <a:off x="3412800" y="3547800"/>
            <a:ext cx="1161000" cy="396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113" name="TextBox 28"/>
          <p:cNvSpPr/>
          <p:nvPr/>
        </p:nvSpPr>
        <p:spPr>
          <a:xfrm>
            <a:off x="3673440" y="271944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Прямая соединительная линия 32"/>
          <p:cNvSpPr/>
          <p:nvPr/>
        </p:nvSpPr>
        <p:spPr>
          <a:xfrm>
            <a:off x="9489960" y="3421080"/>
            <a:ext cx="14400" cy="95400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Прямая соединительная линия 42"/>
          <p:cNvSpPr/>
          <p:nvPr/>
        </p:nvSpPr>
        <p:spPr>
          <a:xfrm>
            <a:off x="8113680" y="3471840"/>
            <a:ext cx="22320" cy="89712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Прямая соединительная линия 43"/>
          <p:cNvSpPr/>
          <p:nvPr/>
        </p:nvSpPr>
        <p:spPr>
          <a:xfrm>
            <a:off x="10858680" y="3414600"/>
            <a:ext cx="14040" cy="95436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7" name="Прямая со стрелкой 45"/>
          <p:cNvCxnSpPr/>
          <p:nvPr/>
        </p:nvCxnSpPr>
        <p:spPr>
          <a:xfrm>
            <a:off x="950400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pic>
        <p:nvPicPr>
          <p:cNvPr id="118" name="TextBox 47" descr=""/>
          <p:cNvPicPr/>
          <p:nvPr/>
        </p:nvPicPr>
        <p:blipFill>
          <a:blip r:embed="rId4"/>
          <a:stretch/>
        </p:blipFill>
        <p:spPr>
          <a:xfrm>
            <a:off x="9320040" y="4425840"/>
            <a:ext cx="525600" cy="596880"/>
          </a:xfrm>
          <a:prstGeom prst="rect">
            <a:avLst/>
          </a:prstGeom>
          <a:ln w="0">
            <a:noFill/>
          </a:ln>
        </p:spPr>
      </p:pic>
      <p:sp>
        <p:nvSpPr>
          <p:cNvPr id="119" name="Прямая соединительная линия 37"/>
          <p:cNvSpPr/>
          <p:nvPr/>
        </p:nvSpPr>
        <p:spPr>
          <a:xfrm flipV="1">
            <a:off x="3386160" y="1726920"/>
            <a:ext cx="1440" cy="166356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Прямая соединительная линия 39"/>
          <p:cNvSpPr/>
          <p:nvPr/>
        </p:nvSpPr>
        <p:spPr>
          <a:xfrm flipH="1" flipV="1">
            <a:off x="9461520" y="1738440"/>
            <a:ext cx="15840" cy="168408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1" name="Прямая со стрелкой 41"/>
          <p:cNvCxnSpPr/>
          <p:nvPr/>
        </p:nvCxnSpPr>
        <p:spPr>
          <a:xfrm>
            <a:off x="3352680" y="1794960"/>
            <a:ext cx="6122160" cy="108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122" name="TextBox 55"/>
          <p:cNvSpPr/>
          <p:nvPr/>
        </p:nvSpPr>
        <p:spPr>
          <a:xfrm>
            <a:off x="8562960" y="2824200"/>
            <a:ext cx="574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57"/>
          <p:cNvSpPr/>
          <p:nvPr/>
        </p:nvSpPr>
        <p:spPr>
          <a:xfrm>
            <a:off x="10044000" y="2847960"/>
            <a:ext cx="574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Прямоугольник 13" descr=""/>
          <p:cNvPicPr/>
          <p:nvPr/>
        </p:nvPicPr>
        <p:blipFill>
          <a:blip r:embed="rId5"/>
          <a:stretch/>
        </p:blipFill>
        <p:spPr>
          <a:xfrm>
            <a:off x="7980480" y="4724280"/>
            <a:ext cx="3717720" cy="974880"/>
          </a:xfrm>
          <a:prstGeom prst="rect">
            <a:avLst/>
          </a:prstGeom>
          <a:ln w="0">
            <a:noFill/>
          </a:ln>
        </p:spPr>
      </p:pic>
      <p:sp>
        <p:nvSpPr>
          <p:cNvPr id="125" name="TextBox 35"/>
          <p:cNvSpPr/>
          <p:nvPr/>
        </p:nvSpPr>
        <p:spPr>
          <a:xfrm>
            <a:off x="353880" y="4900680"/>
            <a:ext cx="704556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 </a:t>
            </a:r>
            <a:r>
              <a:rPr b="0" lang="ru-RU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– 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пределы (равномерное, Р=1)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Oval 27"/>
          <p:cNvSpPr/>
          <p:nvPr/>
        </p:nvSpPr>
        <p:spPr>
          <a:xfrm>
            <a:off x="5143680" y="1784520"/>
            <a:ext cx="2652480" cy="868320"/>
          </a:xfrm>
          <a:prstGeom prst="ellipse">
            <a:avLst/>
          </a:prstGeom>
          <a:noFill/>
          <a:ln w="856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28"/>
          <p:cNvSpPr/>
          <p:nvPr/>
        </p:nvSpPr>
        <p:spPr>
          <a:xfrm>
            <a:off x="0" y="0"/>
            <a:ext cx="12192120" cy="13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800" spc="-1" strike="noStrike">
                <a:solidFill>
                  <a:srgbClr val="ff0000"/>
                </a:solidFill>
                <a:latin typeface="Arial"/>
              </a:rPr>
              <a:t>ШАГ  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800" spc="-1" strike="noStrike">
                <a:solidFill>
                  <a:srgbClr val="ff0000"/>
                </a:solidFill>
                <a:latin typeface="Arial"/>
              </a:rPr>
              <a:t>Оценка систематической погрешности одним значением (точечная                                    оценка)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 flipH="1">
            <a:off x="7612200" y="1120680"/>
            <a:ext cx="434880" cy="890640"/>
          </a:xfrm>
          <a:prstGeom prst="line">
            <a:avLst/>
          </a:prstGeom>
          <a:ln w="3168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Объект 2" descr=""/>
          <p:cNvPicPr/>
          <p:nvPr/>
        </p:nvPicPr>
        <p:blipFill>
          <a:blip r:embed="rId1"/>
          <a:stretch/>
        </p:blipFill>
        <p:spPr>
          <a:xfrm>
            <a:off x="60480" y="1090440"/>
            <a:ext cx="12137760" cy="6274080"/>
          </a:xfrm>
          <a:prstGeom prst="rect">
            <a:avLst/>
          </a:prstGeom>
          <a:ln w="0">
            <a:noFill/>
          </a:ln>
        </p:spPr>
      </p:pic>
      <p:cxnSp>
        <p:nvCxnSpPr>
          <p:cNvPr id="130" name="Прямая со стрелкой 52"/>
          <p:cNvCxnSpPr/>
          <p:nvPr/>
        </p:nvCxnSpPr>
        <p:spPr>
          <a:xfrm flipV="1">
            <a:off x="1092240" y="4031640"/>
            <a:ext cx="10740240" cy="59400"/>
          </a:xfrm>
          <a:prstGeom prst="straightConnector1">
            <a:avLst/>
          </a:prstGeom>
          <a:ln w="6480">
            <a:solidFill>
              <a:srgbClr val="000000"/>
            </a:solidFill>
            <a:miter/>
            <a:tailEnd len="med" type="triangle" w="med"/>
          </a:ln>
        </p:spPr>
      </p:cxnSp>
      <p:pic>
        <p:nvPicPr>
          <p:cNvPr id="131" name="TextBox 59" descr=""/>
          <p:cNvPicPr/>
          <p:nvPr/>
        </p:nvPicPr>
        <p:blipFill>
          <a:blip r:embed="rId2"/>
          <a:stretch/>
        </p:blipFill>
        <p:spPr>
          <a:xfrm>
            <a:off x="3108240" y="4286160"/>
            <a:ext cx="835200" cy="596880"/>
          </a:xfrm>
          <a:prstGeom prst="rect">
            <a:avLst/>
          </a:prstGeom>
          <a:ln w="0">
            <a:noFill/>
          </a:ln>
        </p:spPr>
      </p:pic>
      <p:pic>
        <p:nvPicPr>
          <p:cNvPr id="132" name="Объект 9" descr=""/>
          <p:cNvPicPr/>
          <p:nvPr/>
        </p:nvPicPr>
        <p:blipFill>
          <a:blip r:embed="rId3"/>
          <a:stretch/>
        </p:blipFill>
        <p:spPr>
          <a:xfrm>
            <a:off x="5291280" y="1859040"/>
            <a:ext cx="2712960" cy="615960"/>
          </a:xfrm>
          <a:prstGeom prst="rect">
            <a:avLst/>
          </a:prstGeom>
          <a:ln w="0">
            <a:noFill/>
          </a:ln>
        </p:spPr>
      </p:pic>
      <p:sp>
        <p:nvSpPr>
          <p:cNvPr id="133" name="Прямая соединительная линия 4"/>
          <p:cNvSpPr/>
          <p:nvPr/>
        </p:nvSpPr>
        <p:spPr>
          <a:xfrm>
            <a:off x="3398760" y="3390840"/>
            <a:ext cx="0" cy="8366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Прямая соединительная линия 7"/>
          <p:cNvSpPr/>
          <p:nvPr/>
        </p:nvSpPr>
        <p:spPr>
          <a:xfrm>
            <a:off x="2238480" y="3414600"/>
            <a:ext cx="0" cy="8384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Прямая соединительная линия 9"/>
          <p:cNvSpPr/>
          <p:nvPr/>
        </p:nvSpPr>
        <p:spPr>
          <a:xfrm>
            <a:off x="4549680" y="3432240"/>
            <a:ext cx="0" cy="83016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6" name="Прямая со стрелкой 15"/>
          <p:cNvCxnSpPr/>
          <p:nvPr/>
        </p:nvCxnSpPr>
        <p:spPr>
          <a:xfrm>
            <a:off x="2266920" y="3532320"/>
            <a:ext cx="1161360" cy="360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cxnSp>
        <p:nvCxnSpPr>
          <p:cNvPr id="137" name="Прямая со стрелкой 23"/>
          <p:cNvCxnSpPr/>
          <p:nvPr/>
        </p:nvCxnSpPr>
        <p:spPr>
          <a:xfrm>
            <a:off x="809424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sp>
        <p:nvSpPr>
          <p:cNvPr id="138" name="TextBox 17"/>
          <p:cNvSpPr/>
          <p:nvPr/>
        </p:nvSpPr>
        <p:spPr>
          <a:xfrm>
            <a:off x="2498760" y="269568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9" name="Прямая со стрелкой 26"/>
          <p:cNvCxnSpPr/>
          <p:nvPr/>
        </p:nvCxnSpPr>
        <p:spPr>
          <a:xfrm>
            <a:off x="3412800" y="3547800"/>
            <a:ext cx="1161000" cy="396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140" name="TextBox 28"/>
          <p:cNvSpPr/>
          <p:nvPr/>
        </p:nvSpPr>
        <p:spPr>
          <a:xfrm>
            <a:off x="3673440" y="271944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Прямая соединительная линия 32"/>
          <p:cNvSpPr/>
          <p:nvPr/>
        </p:nvSpPr>
        <p:spPr>
          <a:xfrm>
            <a:off x="9489960" y="3421080"/>
            <a:ext cx="14400" cy="95400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Прямая соединительная линия 42"/>
          <p:cNvSpPr/>
          <p:nvPr/>
        </p:nvSpPr>
        <p:spPr>
          <a:xfrm>
            <a:off x="8113680" y="3471840"/>
            <a:ext cx="22320" cy="89712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Прямая соединительная линия 43"/>
          <p:cNvSpPr/>
          <p:nvPr/>
        </p:nvSpPr>
        <p:spPr>
          <a:xfrm>
            <a:off x="10858680" y="3414600"/>
            <a:ext cx="14040" cy="95436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4" name="Прямая со стрелкой 45"/>
          <p:cNvCxnSpPr/>
          <p:nvPr/>
        </p:nvCxnSpPr>
        <p:spPr>
          <a:xfrm>
            <a:off x="950400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pic>
        <p:nvPicPr>
          <p:cNvPr id="145" name="TextBox 47" descr=""/>
          <p:cNvPicPr/>
          <p:nvPr/>
        </p:nvPicPr>
        <p:blipFill>
          <a:blip r:embed="rId4"/>
          <a:stretch/>
        </p:blipFill>
        <p:spPr>
          <a:xfrm>
            <a:off x="9320040" y="4425840"/>
            <a:ext cx="525600" cy="596880"/>
          </a:xfrm>
          <a:prstGeom prst="rect">
            <a:avLst/>
          </a:prstGeom>
          <a:ln w="0">
            <a:noFill/>
          </a:ln>
        </p:spPr>
      </p:pic>
      <p:sp>
        <p:nvSpPr>
          <p:cNvPr id="146" name="Прямая соединительная линия 37"/>
          <p:cNvSpPr/>
          <p:nvPr/>
        </p:nvSpPr>
        <p:spPr>
          <a:xfrm flipV="1">
            <a:off x="3386160" y="1726920"/>
            <a:ext cx="1440" cy="166356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Прямая соединительная линия 39"/>
          <p:cNvSpPr/>
          <p:nvPr/>
        </p:nvSpPr>
        <p:spPr>
          <a:xfrm flipH="1" flipV="1">
            <a:off x="9461520" y="1738440"/>
            <a:ext cx="15840" cy="168408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8" name="Прямая со стрелкой 41"/>
          <p:cNvCxnSpPr/>
          <p:nvPr/>
        </p:nvCxnSpPr>
        <p:spPr>
          <a:xfrm>
            <a:off x="3352680" y="1794960"/>
            <a:ext cx="6122160" cy="108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149" name="TextBox 55"/>
          <p:cNvSpPr/>
          <p:nvPr/>
        </p:nvSpPr>
        <p:spPr>
          <a:xfrm>
            <a:off x="8562960" y="2824200"/>
            <a:ext cx="574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57"/>
          <p:cNvSpPr/>
          <p:nvPr/>
        </p:nvSpPr>
        <p:spPr>
          <a:xfrm>
            <a:off x="10044000" y="2847960"/>
            <a:ext cx="574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Прямоугольник 13" descr=""/>
          <p:cNvPicPr/>
          <p:nvPr/>
        </p:nvPicPr>
        <p:blipFill>
          <a:blip r:embed="rId5"/>
          <a:stretch/>
        </p:blipFill>
        <p:spPr>
          <a:xfrm>
            <a:off x="7980480" y="4724280"/>
            <a:ext cx="3717720" cy="974880"/>
          </a:xfrm>
          <a:prstGeom prst="rect">
            <a:avLst/>
          </a:prstGeom>
          <a:ln w="0">
            <a:noFill/>
          </a:ln>
        </p:spPr>
      </p:pic>
      <p:sp>
        <p:nvSpPr>
          <p:cNvPr id="152" name="TextBox 35"/>
          <p:cNvSpPr/>
          <p:nvPr/>
        </p:nvSpPr>
        <p:spPr>
          <a:xfrm>
            <a:off x="353880" y="4900680"/>
            <a:ext cx="704556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 </a:t>
            </a:r>
            <a:r>
              <a:rPr b="0" lang="ru-RU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– 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пределы (равномерное, Р=1)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Oval 27"/>
          <p:cNvSpPr/>
          <p:nvPr/>
        </p:nvSpPr>
        <p:spPr>
          <a:xfrm>
            <a:off x="8690040" y="4619520"/>
            <a:ext cx="88920" cy="88920"/>
          </a:xfrm>
          <a:prstGeom prst="ellipse">
            <a:avLst/>
          </a:prstGeom>
          <a:solidFill>
            <a:srgbClr val="5b9bd5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6200" bIns="16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29"/>
          <p:cNvSpPr/>
          <p:nvPr/>
        </p:nvSpPr>
        <p:spPr>
          <a:xfrm>
            <a:off x="617400" y="0"/>
            <a:ext cx="5720040" cy="94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800" spc="-1" strike="noStrike">
                <a:solidFill>
                  <a:srgbClr val="ff0000"/>
                </a:solidFill>
                <a:latin typeface="Arial"/>
              </a:rPr>
              <a:t>ШАГ 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800" spc="-1" strike="noStrike">
                <a:solidFill>
                  <a:srgbClr val="ff0000"/>
                </a:solidFill>
                <a:latin typeface="Arial"/>
              </a:rPr>
              <a:t>Оценка СКО измерения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5" name=""/>
          <p:cNvGraphicFramePr/>
          <p:nvPr/>
        </p:nvGraphicFramePr>
        <p:xfrm>
          <a:off x="8645400" y="318960"/>
          <a:ext cx="3584880" cy="946440"/>
        </p:xfrm>
        <a:graphic>
          <a:graphicData uri="http://schemas.openxmlformats.org/presentationml/2006/ole">
            <p:oleObj r:id="rId6" spid="">
              <p:embed/>
              <p:pic>
                <p:nvPicPr>
                  <p:cNvPr id="156" name="" descr=""/>
                  <p:cNvPicPr/>
                  <p:nvPr/>
                </p:nvPicPr>
                <p:blipFill>
                  <a:blip r:embed="rId7"/>
                  <a:stretch/>
                </p:blipFill>
                <p:spPr>
                  <a:xfrm>
                    <a:off x="8645400" y="318960"/>
                    <a:ext cx="3584880" cy="946440"/>
                  </a:xfrm>
                  <a:prstGeom prst="rect">
                    <a:avLst/>
                  </a:prstGeom>
                  <a:ln w="25560">
                    <a:solidFill>
                      <a:srgbClr val="ff0000"/>
                    </a:solidFill>
                    <a:miter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Объект 2" descr=""/>
          <p:cNvPicPr/>
          <p:nvPr/>
        </p:nvPicPr>
        <p:blipFill>
          <a:blip r:embed="rId1"/>
          <a:stretch/>
        </p:blipFill>
        <p:spPr>
          <a:xfrm>
            <a:off x="60480" y="1090440"/>
            <a:ext cx="12137760" cy="6274080"/>
          </a:xfrm>
          <a:prstGeom prst="rect">
            <a:avLst/>
          </a:prstGeom>
          <a:ln w="0">
            <a:noFill/>
          </a:ln>
        </p:spPr>
      </p:pic>
      <p:cxnSp>
        <p:nvCxnSpPr>
          <p:cNvPr id="158" name="Прямая со стрелкой 52"/>
          <p:cNvCxnSpPr/>
          <p:nvPr/>
        </p:nvCxnSpPr>
        <p:spPr>
          <a:xfrm flipV="1">
            <a:off x="1092240" y="4031640"/>
            <a:ext cx="10740240" cy="59400"/>
          </a:xfrm>
          <a:prstGeom prst="straightConnector1">
            <a:avLst/>
          </a:prstGeom>
          <a:ln w="6480">
            <a:solidFill>
              <a:srgbClr val="000000"/>
            </a:solidFill>
            <a:miter/>
            <a:tailEnd len="med" type="triangle" w="med"/>
          </a:ln>
        </p:spPr>
      </p:cxnSp>
      <p:pic>
        <p:nvPicPr>
          <p:cNvPr id="159" name="TextBox 59" descr=""/>
          <p:cNvPicPr/>
          <p:nvPr/>
        </p:nvPicPr>
        <p:blipFill>
          <a:blip r:embed="rId2"/>
          <a:stretch/>
        </p:blipFill>
        <p:spPr>
          <a:xfrm>
            <a:off x="3108240" y="4286160"/>
            <a:ext cx="835200" cy="596880"/>
          </a:xfrm>
          <a:prstGeom prst="rect">
            <a:avLst/>
          </a:prstGeom>
          <a:ln w="0">
            <a:noFill/>
          </a:ln>
        </p:spPr>
      </p:pic>
      <p:pic>
        <p:nvPicPr>
          <p:cNvPr id="160" name="Объект 9" descr=""/>
          <p:cNvPicPr/>
          <p:nvPr/>
        </p:nvPicPr>
        <p:blipFill>
          <a:blip r:embed="rId3"/>
          <a:stretch/>
        </p:blipFill>
        <p:spPr>
          <a:xfrm>
            <a:off x="5291280" y="1859040"/>
            <a:ext cx="2712960" cy="615960"/>
          </a:xfrm>
          <a:prstGeom prst="rect">
            <a:avLst/>
          </a:prstGeom>
          <a:ln w="0">
            <a:noFill/>
          </a:ln>
        </p:spPr>
      </p:pic>
      <p:sp>
        <p:nvSpPr>
          <p:cNvPr id="161" name="Прямая соединительная линия 4"/>
          <p:cNvSpPr/>
          <p:nvPr/>
        </p:nvSpPr>
        <p:spPr>
          <a:xfrm>
            <a:off x="3398760" y="3390840"/>
            <a:ext cx="0" cy="8366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Прямая соединительная линия 7"/>
          <p:cNvSpPr/>
          <p:nvPr/>
        </p:nvSpPr>
        <p:spPr>
          <a:xfrm>
            <a:off x="2238480" y="3414600"/>
            <a:ext cx="0" cy="8384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Прямая соединительная линия 9"/>
          <p:cNvSpPr/>
          <p:nvPr/>
        </p:nvSpPr>
        <p:spPr>
          <a:xfrm>
            <a:off x="4549680" y="3432240"/>
            <a:ext cx="0" cy="83016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4" name="Прямая со стрелкой 15"/>
          <p:cNvCxnSpPr/>
          <p:nvPr/>
        </p:nvCxnSpPr>
        <p:spPr>
          <a:xfrm>
            <a:off x="2266920" y="3532320"/>
            <a:ext cx="1161360" cy="360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cxnSp>
        <p:nvCxnSpPr>
          <p:cNvPr id="165" name="Прямая со стрелкой 23"/>
          <p:cNvCxnSpPr/>
          <p:nvPr/>
        </p:nvCxnSpPr>
        <p:spPr>
          <a:xfrm>
            <a:off x="809424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sp>
        <p:nvSpPr>
          <p:cNvPr id="166" name="TextBox 17"/>
          <p:cNvSpPr/>
          <p:nvPr/>
        </p:nvSpPr>
        <p:spPr>
          <a:xfrm>
            <a:off x="2498760" y="269568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7" name="Прямая со стрелкой 26"/>
          <p:cNvCxnSpPr/>
          <p:nvPr/>
        </p:nvCxnSpPr>
        <p:spPr>
          <a:xfrm>
            <a:off x="3412800" y="3547800"/>
            <a:ext cx="1161000" cy="396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168" name="TextBox 28"/>
          <p:cNvSpPr/>
          <p:nvPr/>
        </p:nvSpPr>
        <p:spPr>
          <a:xfrm>
            <a:off x="3673440" y="271944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Прямая соединительная линия 32"/>
          <p:cNvSpPr/>
          <p:nvPr/>
        </p:nvSpPr>
        <p:spPr>
          <a:xfrm>
            <a:off x="9489960" y="3421080"/>
            <a:ext cx="14400" cy="95400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Прямая соединительная линия 42"/>
          <p:cNvSpPr/>
          <p:nvPr/>
        </p:nvSpPr>
        <p:spPr>
          <a:xfrm>
            <a:off x="8113680" y="3471840"/>
            <a:ext cx="22320" cy="89712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Прямая соединительная линия 43"/>
          <p:cNvSpPr/>
          <p:nvPr/>
        </p:nvSpPr>
        <p:spPr>
          <a:xfrm>
            <a:off x="10858680" y="3414600"/>
            <a:ext cx="14040" cy="95436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2" name="Прямая со стрелкой 45"/>
          <p:cNvCxnSpPr/>
          <p:nvPr/>
        </p:nvCxnSpPr>
        <p:spPr>
          <a:xfrm>
            <a:off x="950400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pic>
        <p:nvPicPr>
          <p:cNvPr id="173" name="TextBox 47" descr=""/>
          <p:cNvPicPr/>
          <p:nvPr/>
        </p:nvPicPr>
        <p:blipFill>
          <a:blip r:embed="rId4"/>
          <a:stretch/>
        </p:blipFill>
        <p:spPr>
          <a:xfrm>
            <a:off x="9320040" y="4425840"/>
            <a:ext cx="525600" cy="596880"/>
          </a:xfrm>
          <a:prstGeom prst="rect">
            <a:avLst/>
          </a:prstGeom>
          <a:ln w="0">
            <a:noFill/>
          </a:ln>
        </p:spPr>
      </p:pic>
      <p:sp>
        <p:nvSpPr>
          <p:cNvPr id="174" name="Прямая соединительная линия 37"/>
          <p:cNvSpPr/>
          <p:nvPr/>
        </p:nvSpPr>
        <p:spPr>
          <a:xfrm flipV="1">
            <a:off x="3386160" y="1726920"/>
            <a:ext cx="1440" cy="166356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Прямая соединительная линия 39"/>
          <p:cNvSpPr/>
          <p:nvPr/>
        </p:nvSpPr>
        <p:spPr>
          <a:xfrm flipH="1" flipV="1">
            <a:off x="9461520" y="1738440"/>
            <a:ext cx="15840" cy="168408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6" name="Прямая со стрелкой 41"/>
          <p:cNvCxnSpPr/>
          <p:nvPr/>
        </p:nvCxnSpPr>
        <p:spPr>
          <a:xfrm>
            <a:off x="3352680" y="1794960"/>
            <a:ext cx="6122160" cy="108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177" name="TextBox 55"/>
          <p:cNvSpPr/>
          <p:nvPr/>
        </p:nvSpPr>
        <p:spPr>
          <a:xfrm>
            <a:off x="8562960" y="2824200"/>
            <a:ext cx="574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57"/>
          <p:cNvSpPr/>
          <p:nvPr/>
        </p:nvSpPr>
        <p:spPr>
          <a:xfrm>
            <a:off x="10044000" y="2847960"/>
            <a:ext cx="574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Прямоугольник 13" descr=""/>
          <p:cNvPicPr/>
          <p:nvPr/>
        </p:nvPicPr>
        <p:blipFill>
          <a:blip r:embed="rId5"/>
          <a:stretch/>
        </p:blipFill>
        <p:spPr>
          <a:xfrm>
            <a:off x="7980480" y="4724280"/>
            <a:ext cx="3717720" cy="974880"/>
          </a:xfrm>
          <a:prstGeom prst="rect">
            <a:avLst/>
          </a:prstGeom>
          <a:ln w="0">
            <a:noFill/>
          </a:ln>
        </p:spPr>
      </p:pic>
      <p:sp>
        <p:nvSpPr>
          <p:cNvPr id="180" name="TextBox 35"/>
          <p:cNvSpPr/>
          <p:nvPr/>
        </p:nvSpPr>
        <p:spPr>
          <a:xfrm>
            <a:off x="353880" y="4900680"/>
            <a:ext cx="704556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 </a:t>
            </a:r>
            <a:r>
              <a:rPr b="0" lang="ru-RU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– 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пределы (равномерное, Р=1)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Oval 27"/>
          <p:cNvSpPr/>
          <p:nvPr/>
        </p:nvSpPr>
        <p:spPr>
          <a:xfrm>
            <a:off x="8894880" y="4684680"/>
            <a:ext cx="455400" cy="571680"/>
          </a:xfrm>
          <a:prstGeom prst="ellipse">
            <a:avLst/>
          </a:prstGeom>
          <a:noFill/>
          <a:ln w="604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Box 28"/>
          <p:cNvSpPr/>
          <p:nvPr/>
        </p:nvSpPr>
        <p:spPr>
          <a:xfrm>
            <a:off x="2520" y="0"/>
            <a:ext cx="129168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800" spc="-1" strike="noStrike">
                <a:solidFill>
                  <a:srgbClr val="ff0000"/>
                </a:solidFill>
                <a:latin typeface="Arial"/>
              </a:rPr>
              <a:t>ШАГ 4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Line 29"/>
          <p:cNvSpPr/>
          <p:nvPr/>
        </p:nvSpPr>
        <p:spPr>
          <a:xfrm flipH="1">
            <a:off x="9210600" y="1784520"/>
            <a:ext cx="1395360" cy="297180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4" name=""/>
          <p:cNvGraphicFramePr/>
          <p:nvPr/>
        </p:nvGraphicFramePr>
        <p:xfrm>
          <a:off x="9488520" y="458640"/>
          <a:ext cx="2703600" cy="1159200"/>
        </p:xfrm>
        <a:graphic>
          <a:graphicData uri="http://schemas.openxmlformats.org/presentationml/2006/ole">
            <p:oleObj r:id="rId6" spid="">
              <p:embed/>
              <p:pic>
                <p:nvPicPr>
                  <p:cNvPr id="185" name="" descr=""/>
                  <p:cNvPicPr/>
                  <p:nvPr/>
                </p:nvPicPr>
                <p:blipFill>
                  <a:blip r:embed="rId7"/>
                  <a:stretch/>
                </p:blipFill>
                <p:spPr>
                  <a:xfrm>
                    <a:off x="9488520" y="458640"/>
                    <a:ext cx="2703600" cy="1159200"/>
                  </a:xfrm>
                  <a:prstGeom prst="rect">
                    <a:avLst/>
                  </a:prstGeom>
                  <a:ln w="9360">
                    <a:solidFill>
                      <a:srgbClr val="ff0000"/>
                    </a:solidFill>
                    <a:miter/>
                  </a:ln>
                </p:spPr>
              </p:pic>
            </p:oleObj>
          </a:graphicData>
        </a:graphic>
      </p:graphicFrame>
      <p:sp>
        <p:nvSpPr>
          <p:cNvPr id="186" name="Text Box 32"/>
          <p:cNvSpPr/>
          <p:nvPr/>
        </p:nvSpPr>
        <p:spPr>
          <a:xfrm>
            <a:off x="0" y="1100160"/>
            <a:ext cx="9023400" cy="520560"/>
          </a:xfrm>
          <a:prstGeom prst="rect">
            <a:avLst/>
          </a:prstGeom>
          <a:solidFill>
            <a:srgbClr val="ffffff"/>
          </a:solidFill>
          <a:ln w="9360">
            <a:solidFill>
              <a:srgbClr val="99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800" spc="-1" strike="noStrike">
                <a:solidFill>
                  <a:srgbClr val="ff0000"/>
                </a:solidFill>
                <a:latin typeface="Arial"/>
              </a:rPr>
              <a:t>Вместо просто СКО считаем </a:t>
            </a:r>
            <a:r>
              <a:rPr b="1" lang="ru-RU" sz="2800" spc="-1" strike="noStrike" u="sng">
                <a:solidFill>
                  <a:srgbClr val="ff0000"/>
                </a:solidFill>
                <a:uFillTx/>
                <a:latin typeface="Arial"/>
              </a:rPr>
              <a:t>верхнюю</a:t>
            </a:r>
            <a:r>
              <a:rPr b="1" lang="ru-RU" sz="2800" spc="-1" strike="noStrike">
                <a:solidFill>
                  <a:srgbClr val="ff0000"/>
                </a:solidFill>
                <a:latin typeface="Arial"/>
              </a:rPr>
              <a:t> границу </a:t>
            </a:r>
            <a:r>
              <a:rPr b="1" lang="el-GR" sz="2800" spc="-1" strike="noStrike">
                <a:solidFill>
                  <a:srgbClr val="ff0000"/>
                </a:solidFill>
                <a:latin typeface="Mathcad UniMath"/>
              </a:rPr>
              <a:t>σ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9075600" y="1211400"/>
            <a:ext cx="343080" cy="0"/>
          </a:xfrm>
          <a:prstGeom prst="line">
            <a:avLst/>
          </a:prstGeom>
          <a:ln w="3168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Объект 2" descr=""/>
          <p:cNvPicPr/>
          <p:nvPr/>
        </p:nvPicPr>
        <p:blipFill>
          <a:blip r:embed="rId1"/>
          <a:stretch/>
        </p:blipFill>
        <p:spPr>
          <a:xfrm>
            <a:off x="60480" y="1090440"/>
            <a:ext cx="12137760" cy="6274080"/>
          </a:xfrm>
          <a:prstGeom prst="rect">
            <a:avLst/>
          </a:prstGeom>
          <a:ln w="0">
            <a:noFill/>
          </a:ln>
        </p:spPr>
      </p:pic>
      <p:cxnSp>
        <p:nvCxnSpPr>
          <p:cNvPr id="189" name="Прямая со стрелкой 52"/>
          <p:cNvCxnSpPr/>
          <p:nvPr/>
        </p:nvCxnSpPr>
        <p:spPr>
          <a:xfrm flipV="1">
            <a:off x="1092240" y="4031640"/>
            <a:ext cx="10740240" cy="59400"/>
          </a:xfrm>
          <a:prstGeom prst="straightConnector1">
            <a:avLst/>
          </a:prstGeom>
          <a:ln w="6480">
            <a:solidFill>
              <a:srgbClr val="000000"/>
            </a:solidFill>
            <a:miter/>
            <a:tailEnd len="med" type="triangle" w="med"/>
          </a:ln>
        </p:spPr>
      </p:cxnSp>
      <p:pic>
        <p:nvPicPr>
          <p:cNvPr id="190" name="TextBox 59" descr=""/>
          <p:cNvPicPr/>
          <p:nvPr/>
        </p:nvPicPr>
        <p:blipFill>
          <a:blip r:embed="rId2"/>
          <a:stretch/>
        </p:blipFill>
        <p:spPr>
          <a:xfrm>
            <a:off x="3108240" y="4286160"/>
            <a:ext cx="835200" cy="596880"/>
          </a:xfrm>
          <a:prstGeom prst="rect">
            <a:avLst/>
          </a:prstGeom>
          <a:ln w="0">
            <a:noFill/>
          </a:ln>
        </p:spPr>
      </p:pic>
      <p:pic>
        <p:nvPicPr>
          <p:cNvPr id="191" name="Объект 9" descr=""/>
          <p:cNvPicPr/>
          <p:nvPr/>
        </p:nvPicPr>
        <p:blipFill>
          <a:blip r:embed="rId3"/>
          <a:stretch/>
        </p:blipFill>
        <p:spPr>
          <a:xfrm>
            <a:off x="5291280" y="1859040"/>
            <a:ext cx="2712960" cy="615960"/>
          </a:xfrm>
          <a:prstGeom prst="rect">
            <a:avLst/>
          </a:prstGeom>
          <a:ln w="0">
            <a:noFill/>
          </a:ln>
        </p:spPr>
      </p:pic>
      <p:sp>
        <p:nvSpPr>
          <p:cNvPr id="192" name="Прямая соединительная линия 4"/>
          <p:cNvSpPr/>
          <p:nvPr/>
        </p:nvSpPr>
        <p:spPr>
          <a:xfrm>
            <a:off x="3398760" y="3390840"/>
            <a:ext cx="0" cy="8366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Прямая соединительная линия 7"/>
          <p:cNvSpPr/>
          <p:nvPr/>
        </p:nvSpPr>
        <p:spPr>
          <a:xfrm>
            <a:off x="2238480" y="3414600"/>
            <a:ext cx="0" cy="8384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Прямая соединительная линия 9"/>
          <p:cNvSpPr/>
          <p:nvPr/>
        </p:nvSpPr>
        <p:spPr>
          <a:xfrm>
            <a:off x="4549680" y="3432240"/>
            <a:ext cx="0" cy="83016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5" name="Прямая со стрелкой 15"/>
          <p:cNvCxnSpPr/>
          <p:nvPr/>
        </p:nvCxnSpPr>
        <p:spPr>
          <a:xfrm>
            <a:off x="2266920" y="3532320"/>
            <a:ext cx="1161360" cy="360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cxnSp>
        <p:nvCxnSpPr>
          <p:cNvPr id="196" name="Прямая со стрелкой 23"/>
          <p:cNvCxnSpPr/>
          <p:nvPr/>
        </p:nvCxnSpPr>
        <p:spPr>
          <a:xfrm>
            <a:off x="809424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sp>
        <p:nvSpPr>
          <p:cNvPr id="197" name="TextBox 17"/>
          <p:cNvSpPr/>
          <p:nvPr/>
        </p:nvSpPr>
        <p:spPr>
          <a:xfrm>
            <a:off x="2498760" y="269568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8" name="Прямая со стрелкой 26"/>
          <p:cNvCxnSpPr/>
          <p:nvPr/>
        </p:nvCxnSpPr>
        <p:spPr>
          <a:xfrm>
            <a:off x="3412800" y="3547800"/>
            <a:ext cx="1161000" cy="396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199" name="TextBox 28"/>
          <p:cNvSpPr/>
          <p:nvPr/>
        </p:nvSpPr>
        <p:spPr>
          <a:xfrm>
            <a:off x="3673440" y="271944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Прямая соединительная линия 32"/>
          <p:cNvSpPr/>
          <p:nvPr/>
        </p:nvSpPr>
        <p:spPr>
          <a:xfrm>
            <a:off x="9489960" y="3421080"/>
            <a:ext cx="14400" cy="95400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Прямая соединительная линия 42"/>
          <p:cNvSpPr/>
          <p:nvPr/>
        </p:nvSpPr>
        <p:spPr>
          <a:xfrm>
            <a:off x="8113680" y="3471840"/>
            <a:ext cx="22320" cy="89712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Прямая соединительная линия 43"/>
          <p:cNvSpPr/>
          <p:nvPr/>
        </p:nvSpPr>
        <p:spPr>
          <a:xfrm>
            <a:off x="10858680" y="3414600"/>
            <a:ext cx="14040" cy="95436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3" name="Прямая со стрелкой 45"/>
          <p:cNvCxnSpPr/>
          <p:nvPr/>
        </p:nvCxnSpPr>
        <p:spPr>
          <a:xfrm>
            <a:off x="950400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pic>
        <p:nvPicPr>
          <p:cNvPr id="204" name="TextBox 47" descr=""/>
          <p:cNvPicPr/>
          <p:nvPr/>
        </p:nvPicPr>
        <p:blipFill>
          <a:blip r:embed="rId4"/>
          <a:stretch/>
        </p:blipFill>
        <p:spPr>
          <a:xfrm>
            <a:off x="9320040" y="4425840"/>
            <a:ext cx="525600" cy="596880"/>
          </a:xfrm>
          <a:prstGeom prst="rect">
            <a:avLst/>
          </a:prstGeom>
          <a:ln w="0">
            <a:noFill/>
          </a:ln>
        </p:spPr>
      </p:pic>
      <p:sp>
        <p:nvSpPr>
          <p:cNvPr id="205" name="Прямая соединительная линия 37"/>
          <p:cNvSpPr/>
          <p:nvPr/>
        </p:nvSpPr>
        <p:spPr>
          <a:xfrm flipV="1">
            <a:off x="3386160" y="1726920"/>
            <a:ext cx="1440" cy="166356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Прямая соединительная линия 39"/>
          <p:cNvSpPr/>
          <p:nvPr/>
        </p:nvSpPr>
        <p:spPr>
          <a:xfrm flipH="1" flipV="1">
            <a:off x="9461520" y="1738440"/>
            <a:ext cx="15840" cy="168408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7" name="Прямая со стрелкой 41"/>
          <p:cNvCxnSpPr/>
          <p:nvPr/>
        </p:nvCxnSpPr>
        <p:spPr>
          <a:xfrm>
            <a:off x="3352680" y="1794960"/>
            <a:ext cx="6122160" cy="108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208" name="TextBox 55"/>
          <p:cNvSpPr/>
          <p:nvPr/>
        </p:nvSpPr>
        <p:spPr>
          <a:xfrm>
            <a:off x="8562960" y="2824200"/>
            <a:ext cx="574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57"/>
          <p:cNvSpPr/>
          <p:nvPr/>
        </p:nvSpPr>
        <p:spPr>
          <a:xfrm>
            <a:off x="10044000" y="2847960"/>
            <a:ext cx="574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Прямоугольник 13" descr=""/>
          <p:cNvPicPr/>
          <p:nvPr/>
        </p:nvPicPr>
        <p:blipFill>
          <a:blip r:embed="rId5"/>
          <a:stretch/>
        </p:blipFill>
        <p:spPr>
          <a:xfrm>
            <a:off x="7980480" y="4724280"/>
            <a:ext cx="3717720" cy="974880"/>
          </a:xfrm>
          <a:prstGeom prst="rect">
            <a:avLst/>
          </a:prstGeom>
          <a:ln w="0">
            <a:noFill/>
          </a:ln>
        </p:spPr>
      </p:pic>
      <p:sp>
        <p:nvSpPr>
          <p:cNvPr id="211" name="Arc 29"/>
          <p:cNvSpPr/>
          <p:nvPr/>
        </p:nvSpPr>
        <p:spPr>
          <a:xfrm flipH="1" flipV="1" rot="8905200">
            <a:off x="8678520" y="2743200"/>
            <a:ext cx="1773720" cy="1463760"/>
          </a:xfrm>
          <a:custGeom>
            <a:avLst/>
            <a:gdLst>
              <a:gd name="textAreaLeft" fmla="*/ -360 w 1773720"/>
              <a:gd name="textAreaRight" fmla="*/ 1773720 w 1773720"/>
              <a:gd name="textAreaTop" fmla="*/ 360 h 1463760"/>
              <a:gd name="textAreaBottom" fmla="*/ 1464480 h 1463760"/>
            </a:gdLst>
            <a:ahLst/>
            <a:rect l="textAreaLeft" t="textAreaTop" r="textAreaRight" b="textAreaBottom"/>
            <a:pathLst>
              <a:path fill="none" w="21493" h="21600">
                <a:moveTo>
                  <a:pt x="-1" y="4"/>
                </a:moveTo>
                <a:cubicBezTo>
                  <a:pt x="153" y="1"/>
                  <a:pt x="307" y="-1"/>
                  <a:pt x="461" y="0"/>
                </a:cubicBezTo>
                <a:cubicBezTo>
                  <a:pt x="10493" y="0"/>
                  <a:pt x="19205" y="6908"/>
                  <a:pt x="21492" y="16677"/>
                </a:cubicBezTo>
              </a:path>
              <a:path stroke="0" w="21493" h="21600">
                <a:moveTo>
                  <a:pt x="-1" y="4"/>
                </a:moveTo>
                <a:cubicBezTo>
                  <a:pt x="153" y="1"/>
                  <a:pt x="307" y="-1"/>
                  <a:pt x="461" y="0"/>
                </a:cubicBezTo>
                <a:cubicBezTo>
                  <a:pt x="10493" y="0"/>
                  <a:pt x="19205" y="6908"/>
                  <a:pt x="21492" y="16677"/>
                </a:cubicBezTo>
                <a:lnTo>
                  <a:pt x="461" y="21600"/>
                </a:lnTo>
                <a:close/>
              </a:path>
            </a:pathLst>
          </a:custGeom>
          <a:noFill/>
          <a:ln w="507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Arc 30"/>
          <p:cNvSpPr/>
          <p:nvPr/>
        </p:nvSpPr>
        <p:spPr>
          <a:xfrm flipH="1" flipV="1" rot="8905200">
            <a:off x="2561760" y="2936880"/>
            <a:ext cx="1773720" cy="1463760"/>
          </a:xfrm>
          <a:custGeom>
            <a:avLst/>
            <a:gdLst>
              <a:gd name="textAreaLeft" fmla="*/ -360 w 1773720"/>
              <a:gd name="textAreaRight" fmla="*/ 1773720 w 1773720"/>
              <a:gd name="textAreaTop" fmla="*/ 360 h 1463760"/>
              <a:gd name="textAreaBottom" fmla="*/ 1464480 h 1463760"/>
            </a:gdLst>
            <a:ahLst/>
            <a:rect l="textAreaLeft" t="textAreaTop" r="textAreaRight" b="textAreaBottom"/>
            <a:pathLst>
              <a:path fill="none" w="21493" h="21600">
                <a:moveTo>
                  <a:pt x="-1" y="4"/>
                </a:moveTo>
                <a:cubicBezTo>
                  <a:pt x="153" y="1"/>
                  <a:pt x="307" y="-1"/>
                  <a:pt x="461" y="0"/>
                </a:cubicBezTo>
                <a:cubicBezTo>
                  <a:pt x="10493" y="0"/>
                  <a:pt x="19205" y="6908"/>
                  <a:pt x="21492" y="16677"/>
                </a:cubicBezTo>
              </a:path>
              <a:path stroke="0" w="21493" h="21600">
                <a:moveTo>
                  <a:pt x="-1" y="4"/>
                </a:moveTo>
                <a:cubicBezTo>
                  <a:pt x="153" y="1"/>
                  <a:pt x="307" y="-1"/>
                  <a:pt x="461" y="0"/>
                </a:cubicBezTo>
                <a:cubicBezTo>
                  <a:pt x="10493" y="0"/>
                  <a:pt x="19205" y="6908"/>
                  <a:pt x="21492" y="16677"/>
                </a:cubicBezTo>
                <a:lnTo>
                  <a:pt x="461" y="21600"/>
                </a:lnTo>
                <a:close/>
              </a:path>
            </a:pathLst>
          </a:custGeom>
          <a:noFill/>
          <a:ln w="507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Oval 31"/>
          <p:cNvSpPr/>
          <p:nvPr/>
        </p:nvSpPr>
        <p:spPr>
          <a:xfrm>
            <a:off x="0" y="5646600"/>
            <a:ext cx="6469200" cy="1211400"/>
          </a:xfrm>
          <a:prstGeom prst="ellipse">
            <a:avLst/>
          </a:prstGeom>
          <a:noFill/>
          <a:ln w="442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Box 32"/>
          <p:cNvSpPr/>
          <p:nvPr/>
        </p:nvSpPr>
        <p:spPr>
          <a:xfrm>
            <a:off x="0" y="0"/>
            <a:ext cx="12192120" cy="1434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3200" spc="-1" strike="noStrike">
                <a:solidFill>
                  <a:srgbClr val="ff0000"/>
                </a:solidFill>
                <a:latin typeface="Arial"/>
              </a:rPr>
              <a:t>ШАГ 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2800" spc="-1" strike="noStrike">
                <a:solidFill>
                  <a:srgbClr val="ff0000"/>
                </a:solidFill>
                <a:latin typeface="Arial"/>
              </a:rPr>
              <a:t>Доверительный интервал для систематической погрешности (квадратичное суммирование погрешности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ru-RU" sz="2800" spc="-1" strike="noStrike">
                <a:solidFill>
                  <a:srgbClr val="33cc33"/>
                </a:solidFill>
                <a:latin typeface="Arial"/>
              </a:rPr>
              <a:t>эталона</a:t>
            </a:r>
            <a:r>
              <a:rPr b="1" lang="ru-RU" sz="1800" spc="-1" strike="noStrike">
                <a:solidFill>
                  <a:srgbClr val="33cc33"/>
                </a:solidFill>
                <a:latin typeface="Arial"/>
              </a:rPr>
              <a:t> </a:t>
            </a:r>
            <a:r>
              <a:rPr b="1" lang="ru-RU" sz="2800" spc="-1" strike="noStrike">
                <a:solidFill>
                  <a:srgbClr val="ff0000"/>
                </a:solidFill>
                <a:latin typeface="Arial"/>
              </a:rPr>
              <a:t>и</a:t>
            </a:r>
            <a:r>
              <a:rPr b="1" lang="ru-RU" sz="1800" spc="-1" strike="noStrike">
                <a:solidFill>
                  <a:srgbClr val="33cc33"/>
                </a:solidFill>
                <a:latin typeface="Arial"/>
              </a:rPr>
              <a:t> </a:t>
            </a:r>
            <a:r>
              <a:rPr b="1" lang="ru-RU" sz="2800" spc="-1" strike="noStrike">
                <a:solidFill>
                  <a:srgbClr val="954f72"/>
                </a:solidFill>
                <a:latin typeface="Arial"/>
              </a:rPr>
              <a:t>измерения</a:t>
            </a:r>
            <a:r>
              <a:rPr b="1" lang="ru-RU" sz="2800" spc="-1" strike="noStrike">
                <a:solidFill>
                  <a:srgbClr val="ff0000"/>
                </a:solidFill>
                <a:latin typeface="Arial"/>
              </a:rPr>
              <a:t>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Line 31"/>
          <p:cNvSpPr/>
          <p:nvPr/>
        </p:nvSpPr>
        <p:spPr>
          <a:xfrm>
            <a:off x="434880" y="1555920"/>
            <a:ext cx="46080" cy="3952800"/>
          </a:xfrm>
          <a:prstGeom prst="line">
            <a:avLst/>
          </a:prstGeom>
          <a:ln w="3492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 flipH="1">
            <a:off x="10172880" y="1393920"/>
            <a:ext cx="731520" cy="1485720"/>
          </a:xfrm>
          <a:prstGeom prst="line">
            <a:avLst/>
          </a:prstGeom>
          <a:ln w="28440">
            <a:solidFill>
              <a:srgbClr val="99336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 flipH="1">
            <a:off x="4321080" y="1279440"/>
            <a:ext cx="4205520" cy="2013120"/>
          </a:xfrm>
          <a:prstGeom prst="line">
            <a:avLst/>
          </a:prstGeom>
          <a:ln w="34920">
            <a:solidFill>
              <a:srgbClr val="33cc33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Объект 2" descr=""/>
          <p:cNvPicPr/>
          <p:nvPr/>
        </p:nvPicPr>
        <p:blipFill>
          <a:blip r:embed="rId1"/>
          <a:stretch/>
        </p:blipFill>
        <p:spPr>
          <a:xfrm>
            <a:off x="60480" y="1090440"/>
            <a:ext cx="12137760" cy="6274080"/>
          </a:xfrm>
          <a:prstGeom prst="rect">
            <a:avLst/>
          </a:prstGeom>
          <a:ln w="0">
            <a:noFill/>
          </a:ln>
        </p:spPr>
      </p:pic>
      <p:cxnSp>
        <p:nvCxnSpPr>
          <p:cNvPr id="219" name="Прямая со стрелкой 52"/>
          <p:cNvCxnSpPr/>
          <p:nvPr/>
        </p:nvCxnSpPr>
        <p:spPr>
          <a:xfrm flipV="1">
            <a:off x="1092240" y="4031640"/>
            <a:ext cx="10740240" cy="59400"/>
          </a:xfrm>
          <a:prstGeom prst="straightConnector1">
            <a:avLst/>
          </a:prstGeom>
          <a:ln w="6480">
            <a:solidFill>
              <a:srgbClr val="000000"/>
            </a:solidFill>
            <a:miter/>
            <a:tailEnd len="med" type="triangle" w="med"/>
          </a:ln>
        </p:spPr>
      </p:cxnSp>
      <p:pic>
        <p:nvPicPr>
          <p:cNvPr id="220" name="TextBox 59" descr=""/>
          <p:cNvPicPr/>
          <p:nvPr/>
        </p:nvPicPr>
        <p:blipFill>
          <a:blip r:embed="rId2"/>
          <a:stretch/>
        </p:blipFill>
        <p:spPr>
          <a:xfrm>
            <a:off x="3108240" y="4286160"/>
            <a:ext cx="835200" cy="596880"/>
          </a:xfrm>
          <a:prstGeom prst="rect">
            <a:avLst/>
          </a:prstGeom>
          <a:ln w="0">
            <a:noFill/>
          </a:ln>
        </p:spPr>
      </p:pic>
      <p:pic>
        <p:nvPicPr>
          <p:cNvPr id="221" name="Объект 9" descr=""/>
          <p:cNvPicPr/>
          <p:nvPr/>
        </p:nvPicPr>
        <p:blipFill>
          <a:blip r:embed="rId3"/>
          <a:stretch/>
        </p:blipFill>
        <p:spPr>
          <a:xfrm>
            <a:off x="5291280" y="1859040"/>
            <a:ext cx="2712960" cy="615960"/>
          </a:xfrm>
          <a:prstGeom prst="rect">
            <a:avLst/>
          </a:prstGeom>
          <a:ln w="0">
            <a:noFill/>
          </a:ln>
        </p:spPr>
      </p:pic>
      <p:sp>
        <p:nvSpPr>
          <p:cNvPr id="222" name="Прямая соединительная линия 4"/>
          <p:cNvSpPr/>
          <p:nvPr/>
        </p:nvSpPr>
        <p:spPr>
          <a:xfrm>
            <a:off x="3398760" y="3390840"/>
            <a:ext cx="0" cy="8366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Прямая соединительная линия 7"/>
          <p:cNvSpPr/>
          <p:nvPr/>
        </p:nvSpPr>
        <p:spPr>
          <a:xfrm>
            <a:off x="2238480" y="3414600"/>
            <a:ext cx="0" cy="8384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Прямая соединительная линия 9"/>
          <p:cNvSpPr/>
          <p:nvPr/>
        </p:nvSpPr>
        <p:spPr>
          <a:xfrm>
            <a:off x="4549680" y="3432240"/>
            <a:ext cx="0" cy="83016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5" name="Прямая со стрелкой 15"/>
          <p:cNvCxnSpPr/>
          <p:nvPr/>
        </p:nvCxnSpPr>
        <p:spPr>
          <a:xfrm>
            <a:off x="2266920" y="3532320"/>
            <a:ext cx="1161360" cy="360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cxnSp>
        <p:nvCxnSpPr>
          <p:cNvPr id="226" name="Прямая со стрелкой 23"/>
          <p:cNvCxnSpPr/>
          <p:nvPr/>
        </p:nvCxnSpPr>
        <p:spPr>
          <a:xfrm>
            <a:off x="809424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sp>
        <p:nvSpPr>
          <p:cNvPr id="227" name="TextBox 17"/>
          <p:cNvSpPr/>
          <p:nvPr/>
        </p:nvSpPr>
        <p:spPr>
          <a:xfrm>
            <a:off x="2498760" y="269568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8" name="Прямая со стрелкой 26"/>
          <p:cNvCxnSpPr/>
          <p:nvPr/>
        </p:nvCxnSpPr>
        <p:spPr>
          <a:xfrm>
            <a:off x="3412800" y="3547800"/>
            <a:ext cx="1161000" cy="396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229" name="TextBox 28"/>
          <p:cNvSpPr/>
          <p:nvPr/>
        </p:nvSpPr>
        <p:spPr>
          <a:xfrm>
            <a:off x="3673440" y="271944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Прямая соединительная линия 32"/>
          <p:cNvSpPr/>
          <p:nvPr/>
        </p:nvSpPr>
        <p:spPr>
          <a:xfrm>
            <a:off x="9489960" y="3421080"/>
            <a:ext cx="14400" cy="95400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Прямая соединительная линия 42"/>
          <p:cNvSpPr/>
          <p:nvPr/>
        </p:nvSpPr>
        <p:spPr>
          <a:xfrm>
            <a:off x="8113680" y="3471840"/>
            <a:ext cx="22320" cy="89712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Прямая соединительная линия 43"/>
          <p:cNvSpPr/>
          <p:nvPr/>
        </p:nvSpPr>
        <p:spPr>
          <a:xfrm>
            <a:off x="10858680" y="3414600"/>
            <a:ext cx="14040" cy="95436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3" name="Прямая со стрелкой 45"/>
          <p:cNvCxnSpPr/>
          <p:nvPr/>
        </p:nvCxnSpPr>
        <p:spPr>
          <a:xfrm>
            <a:off x="950400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pic>
        <p:nvPicPr>
          <p:cNvPr id="234" name="TextBox 47" descr=""/>
          <p:cNvPicPr/>
          <p:nvPr/>
        </p:nvPicPr>
        <p:blipFill>
          <a:blip r:embed="rId4"/>
          <a:stretch/>
        </p:blipFill>
        <p:spPr>
          <a:xfrm>
            <a:off x="9320040" y="4425840"/>
            <a:ext cx="525600" cy="596880"/>
          </a:xfrm>
          <a:prstGeom prst="rect">
            <a:avLst/>
          </a:prstGeom>
          <a:ln w="0">
            <a:noFill/>
          </a:ln>
        </p:spPr>
      </p:pic>
      <p:sp>
        <p:nvSpPr>
          <p:cNvPr id="235" name="Прямая соединительная линия 37"/>
          <p:cNvSpPr/>
          <p:nvPr/>
        </p:nvSpPr>
        <p:spPr>
          <a:xfrm flipV="1">
            <a:off x="3386160" y="1726920"/>
            <a:ext cx="1440" cy="166356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Прямая соединительная линия 39"/>
          <p:cNvSpPr/>
          <p:nvPr/>
        </p:nvSpPr>
        <p:spPr>
          <a:xfrm flipH="1" flipV="1">
            <a:off x="9461520" y="1738440"/>
            <a:ext cx="15840" cy="168408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7" name="Прямая со стрелкой 41"/>
          <p:cNvCxnSpPr/>
          <p:nvPr/>
        </p:nvCxnSpPr>
        <p:spPr>
          <a:xfrm>
            <a:off x="3352680" y="1794960"/>
            <a:ext cx="6122160" cy="108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238" name="TextBox 55"/>
          <p:cNvSpPr/>
          <p:nvPr/>
        </p:nvSpPr>
        <p:spPr>
          <a:xfrm>
            <a:off x="8562960" y="2824200"/>
            <a:ext cx="574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57"/>
          <p:cNvSpPr/>
          <p:nvPr/>
        </p:nvSpPr>
        <p:spPr>
          <a:xfrm>
            <a:off x="10044000" y="2847960"/>
            <a:ext cx="574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Прямоугольник 13" descr=""/>
          <p:cNvPicPr/>
          <p:nvPr/>
        </p:nvPicPr>
        <p:blipFill>
          <a:blip r:embed="rId5"/>
          <a:stretch/>
        </p:blipFill>
        <p:spPr>
          <a:xfrm>
            <a:off x="7980480" y="4724280"/>
            <a:ext cx="3717720" cy="974880"/>
          </a:xfrm>
          <a:prstGeom prst="rect">
            <a:avLst/>
          </a:prstGeom>
          <a:ln w="0">
            <a:noFill/>
          </a:ln>
        </p:spPr>
      </p:pic>
      <p:sp>
        <p:nvSpPr>
          <p:cNvPr id="241" name="TextBox 35"/>
          <p:cNvSpPr/>
          <p:nvPr/>
        </p:nvSpPr>
        <p:spPr>
          <a:xfrm>
            <a:off x="378000" y="4900680"/>
            <a:ext cx="70452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 </a:t>
            </a:r>
            <a:r>
              <a:rPr b="0" lang="ru-RU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– 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пределы (равномерное, Р=1)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Oval 27"/>
          <p:cNvSpPr/>
          <p:nvPr/>
        </p:nvSpPr>
        <p:spPr>
          <a:xfrm>
            <a:off x="7108920" y="5875200"/>
            <a:ext cx="3314520" cy="982800"/>
          </a:xfrm>
          <a:prstGeom prst="ellipse">
            <a:avLst/>
          </a:prstGeom>
          <a:noFill/>
          <a:ln w="572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Box 28"/>
          <p:cNvSpPr/>
          <p:nvPr/>
        </p:nvSpPr>
        <p:spPr>
          <a:xfrm>
            <a:off x="0" y="0"/>
            <a:ext cx="12192120" cy="1434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3200" spc="-1" strike="noStrike">
                <a:solidFill>
                  <a:srgbClr val="ff0000"/>
                </a:solidFill>
                <a:latin typeface="Arial"/>
              </a:rPr>
              <a:t>ШАГ 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ru-RU" sz="2800" spc="-1" strike="noStrike">
                <a:solidFill>
                  <a:srgbClr val="ff0000"/>
                </a:solidFill>
                <a:latin typeface="Arial"/>
              </a:rPr>
              <a:t>Оценка  верхней границы систематической погрешности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ru-RU" sz="2800" spc="-1" strike="noStrike">
                <a:solidFill>
                  <a:srgbClr val="ff0000"/>
                </a:solidFill>
                <a:latin typeface="Arial"/>
              </a:rPr>
              <a:t>Суммирование  (по модулю) </a:t>
            </a:r>
            <a:r>
              <a:rPr b="1" i="1" lang="ru-RU" sz="2800" spc="-1" strike="noStrike">
                <a:solidFill>
                  <a:srgbClr val="33cc33"/>
                </a:solidFill>
                <a:latin typeface="Arial"/>
              </a:rPr>
              <a:t>точечной оценки</a:t>
            </a:r>
            <a:r>
              <a:rPr b="1" i="1" lang="ru-RU" sz="2800" spc="-1" strike="noStrike">
                <a:solidFill>
                  <a:srgbClr val="ff0000"/>
                </a:solidFill>
                <a:latin typeface="Arial"/>
              </a:rPr>
              <a:t> и </a:t>
            </a:r>
            <a:r>
              <a:rPr b="1" i="1" lang="ru-RU" sz="2800" spc="-1" strike="noStrike">
                <a:solidFill>
                  <a:srgbClr val="954f72"/>
                </a:solidFill>
                <a:latin typeface="Arial"/>
              </a:rPr>
              <a:t>погрешности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 flipH="1">
            <a:off x="6834240" y="1349280"/>
            <a:ext cx="1440" cy="754200"/>
          </a:xfrm>
          <a:prstGeom prst="line">
            <a:avLst/>
          </a:prstGeom>
          <a:ln w="101520">
            <a:solidFill>
              <a:srgbClr val="33996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 flipH="1">
            <a:off x="1074600" y="1440000"/>
            <a:ext cx="9190080" cy="4549680"/>
          </a:xfrm>
          <a:prstGeom prst="line">
            <a:avLst/>
          </a:prstGeom>
          <a:ln w="34920">
            <a:solidFill>
              <a:srgbClr val="99336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1892160" y="-351000"/>
            <a:ext cx="10299960" cy="6272280"/>
          </a:xfrm>
          <a:custGeom>
            <a:avLst/>
            <a:gdLst/>
            <a:ahLst/>
            <a:rect l="l" t="t" r="r" b="b"/>
            <a:pathLst>
              <a:path w="6488" h="3951">
                <a:moveTo>
                  <a:pt x="149" y="941"/>
                </a:moveTo>
                <a:cubicBezTo>
                  <a:pt x="74" y="733"/>
                  <a:pt x="0" y="526"/>
                  <a:pt x="941" y="466"/>
                </a:cubicBezTo>
                <a:cubicBezTo>
                  <a:pt x="1882" y="406"/>
                  <a:pt x="5100" y="0"/>
                  <a:pt x="5794" y="581"/>
                </a:cubicBezTo>
                <a:cubicBezTo>
                  <a:pt x="6488" y="1162"/>
                  <a:pt x="5225" y="3380"/>
                  <a:pt x="5103" y="3951"/>
                </a:cubicBezTo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 flipH="1">
            <a:off x="9965880" y="5556240"/>
            <a:ext cx="136440" cy="434880"/>
          </a:xfrm>
          <a:prstGeom prst="line">
            <a:avLst/>
          </a:prstGeom>
          <a:ln w="2232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Объект 2" descr=""/>
          <p:cNvPicPr/>
          <p:nvPr/>
        </p:nvPicPr>
        <p:blipFill>
          <a:blip r:embed="rId1"/>
          <a:stretch/>
        </p:blipFill>
        <p:spPr>
          <a:xfrm>
            <a:off x="60480" y="1090440"/>
            <a:ext cx="12137760" cy="6274080"/>
          </a:xfrm>
          <a:prstGeom prst="rect">
            <a:avLst/>
          </a:prstGeom>
          <a:ln w="0">
            <a:noFill/>
          </a:ln>
        </p:spPr>
      </p:pic>
      <p:cxnSp>
        <p:nvCxnSpPr>
          <p:cNvPr id="249" name="Прямая со стрелкой 52"/>
          <p:cNvCxnSpPr/>
          <p:nvPr/>
        </p:nvCxnSpPr>
        <p:spPr>
          <a:xfrm flipV="1">
            <a:off x="1092240" y="4031640"/>
            <a:ext cx="10740240" cy="59400"/>
          </a:xfrm>
          <a:prstGeom prst="straightConnector1">
            <a:avLst/>
          </a:prstGeom>
          <a:ln w="6480">
            <a:solidFill>
              <a:srgbClr val="000000"/>
            </a:solidFill>
            <a:miter/>
            <a:tailEnd len="med" type="triangle" w="med"/>
          </a:ln>
        </p:spPr>
      </p:cxnSp>
      <p:pic>
        <p:nvPicPr>
          <p:cNvPr id="250" name="TextBox 59" descr=""/>
          <p:cNvPicPr/>
          <p:nvPr/>
        </p:nvPicPr>
        <p:blipFill>
          <a:blip r:embed="rId2"/>
          <a:stretch/>
        </p:blipFill>
        <p:spPr>
          <a:xfrm>
            <a:off x="3108240" y="4286160"/>
            <a:ext cx="835200" cy="596880"/>
          </a:xfrm>
          <a:prstGeom prst="rect">
            <a:avLst/>
          </a:prstGeom>
          <a:ln w="0">
            <a:noFill/>
          </a:ln>
        </p:spPr>
      </p:pic>
      <p:pic>
        <p:nvPicPr>
          <p:cNvPr id="251" name="Объект 9" descr=""/>
          <p:cNvPicPr/>
          <p:nvPr/>
        </p:nvPicPr>
        <p:blipFill>
          <a:blip r:embed="rId3"/>
          <a:stretch/>
        </p:blipFill>
        <p:spPr>
          <a:xfrm>
            <a:off x="5291280" y="1859040"/>
            <a:ext cx="2712960" cy="615960"/>
          </a:xfrm>
          <a:prstGeom prst="rect">
            <a:avLst/>
          </a:prstGeom>
          <a:ln w="0">
            <a:noFill/>
          </a:ln>
        </p:spPr>
      </p:pic>
      <p:sp>
        <p:nvSpPr>
          <p:cNvPr id="252" name="Прямая соединительная линия 4"/>
          <p:cNvSpPr/>
          <p:nvPr/>
        </p:nvSpPr>
        <p:spPr>
          <a:xfrm>
            <a:off x="3398760" y="3390840"/>
            <a:ext cx="0" cy="8366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Прямая соединительная линия 7"/>
          <p:cNvSpPr/>
          <p:nvPr/>
        </p:nvSpPr>
        <p:spPr>
          <a:xfrm>
            <a:off x="2238480" y="3414600"/>
            <a:ext cx="0" cy="8384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Прямая соединительная линия 9"/>
          <p:cNvSpPr/>
          <p:nvPr/>
        </p:nvSpPr>
        <p:spPr>
          <a:xfrm>
            <a:off x="4549680" y="3432240"/>
            <a:ext cx="0" cy="83016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5" name="Прямая со стрелкой 15"/>
          <p:cNvCxnSpPr/>
          <p:nvPr/>
        </p:nvCxnSpPr>
        <p:spPr>
          <a:xfrm>
            <a:off x="2266920" y="3532320"/>
            <a:ext cx="1161360" cy="360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cxnSp>
        <p:nvCxnSpPr>
          <p:cNvPr id="256" name="Прямая со стрелкой 23"/>
          <p:cNvCxnSpPr/>
          <p:nvPr/>
        </p:nvCxnSpPr>
        <p:spPr>
          <a:xfrm>
            <a:off x="809424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sp>
        <p:nvSpPr>
          <p:cNvPr id="257" name="TextBox 17"/>
          <p:cNvSpPr/>
          <p:nvPr/>
        </p:nvSpPr>
        <p:spPr>
          <a:xfrm>
            <a:off x="2498760" y="269568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8" name="Прямая со стрелкой 26"/>
          <p:cNvCxnSpPr/>
          <p:nvPr/>
        </p:nvCxnSpPr>
        <p:spPr>
          <a:xfrm>
            <a:off x="3412800" y="3547800"/>
            <a:ext cx="1161000" cy="396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259" name="TextBox 28"/>
          <p:cNvSpPr/>
          <p:nvPr/>
        </p:nvSpPr>
        <p:spPr>
          <a:xfrm>
            <a:off x="3673440" y="271944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Прямая соединительная линия 32"/>
          <p:cNvSpPr/>
          <p:nvPr/>
        </p:nvSpPr>
        <p:spPr>
          <a:xfrm>
            <a:off x="9489960" y="3421080"/>
            <a:ext cx="14400" cy="95400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Прямая соединительная линия 42"/>
          <p:cNvSpPr/>
          <p:nvPr/>
        </p:nvSpPr>
        <p:spPr>
          <a:xfrm>
            <a:off x="8113680" y="3471840"/>
            <a:ext cx="22320" cy="89712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Прямая соединительная линия 43"/>
          <p:cNvSpPr/>
          <p:nvPr/>
        </p:nvSpPr>
        <p:spPr>
          <a:xfrm>
            <a:off x="10858680" y="3414600"/>
            <a:ext cx="14040" cy="95436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3" name="Прямая со стрелкой 45"/>
          <p:cNvCxnSpPr/>
          <p:nvPr/>
        </p:nvCxnSpPr>
        <p:spPr>
          <a:xfrm>
            <a:off x="950400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pic>
        <p:nvPicPr>
          <p:cNvPr id="264" name="TextBox 47" descr=""/>
          <p:cNvPicPr/>
          <p:nvPr/>
        </p:nvPicPr>
        <p:blipFill>
          <a:blip r:embed="rId4"/>
          <a:stretch/>
        </p:blipFill>
        <p:spPr>
          <a:xfrm>
            <a:off x="9320040" y="4425840"/>
            <a:ext cx="525600" cy="596880"/>
          </a:xfrm>
          <a:prstGeom prst="rect">
            <a:avLst/>
          </a:prstGeom>
          <a:ln w="0">
            <a:noFill/>
          </a:ln>
        </p:spPr>
      </p:pic>
      <p:sp>
        <p:nvSpPr>
          <p:cNvPr id="265" name="Прямая соединительная линия 37"/>
          <p:cNvSpPr/>
          <p:nvPr/>
        </p:nvSpPr>
        <p:spPr>
          <a:xfrm flipV="1">
            <a:off x="3386160" y="1726920"/>
            <a:ext cx="1440" cy="166356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Прямая соединительная линия 39"/>
          <p:cNvSpPr/>
          <p:nvPr/>
        </p:nvSpPr>
        <p:spPr>
          <a:xfrm flipH="1" flipV="1">
            <a:off x="9461520" y="1738440"/>
            <a:ext cx="15840" cy="168408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7" name="Прямая со стрелкой 41"/>
          <p:cNvCxnSpPr/>
          <p:nvPr/>
        </p:nvCxnSpPr>
        <p:spPr>
          <a:xfrm>
            <a:off x="3352680" y="1794960"/>
            <a:ext cx="6122160" cy="108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268" name="TextBox 55"/>
          <p:cNvSpPr/>
          <p:nvPr/>
        </p:nvSpPr>
        <p:spPr>
          <a:xfrm>
            <a:off x="8562960" y="2824200"/>
            <a:ext cx="574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57"/>
          <p:cNvSpPr/>
          <p:nvPr/>
        </p:nvSpPr>
        <p:spPr>
          <a:xfrm>
            <a:off x="10044000" y="2847960"/>
            <a:ext cx="574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Прямоугольник 13" descr=""/>
          <p:cNvPicPr/>
          <p:nvPr/>
        </p:nvPicPr>
        <p:blipFill>
          <a:blip r:embed="rId5"/>
          <a:stretch/>
        </p:blipFill>
        <p:spPr>
          <a:xfrm>
            <a:off x="7980480" y="4724280"/>
            <a:ext cx="3717720" cy="974880"/>
          </a:xfrm>
          <a:prstGeom prst="rect">
            <a:avLst/>
          </a:prstGeom>
          <a:ln w="0">
            <a:noFill/>
          </a:ln>
        </p:spPr>
      </p:pic>
      <p:sp>
        <p:nvSpPr>
          <p:cNvPr id="271" name="TextBox 35"/>
          <p:cNvSpPr/>
          <p:nvPr/>
        </p:nvSpPr>
        <p:spPr>
          <a:xfrm>
            <a:off x="378000" y="4900680"/>
            <a:ext cx="70452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 </a:t>
            </a:r>
            <a:r>
              <a:rPr b="0" lang="ru-RU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– </a:t>
            </a:r>
            <a:r>
              <a:rPr b="0" lang="ru-RU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пределы (равномерное, Р=1)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Box 28"/>
          <p:cNvSpPr/>
          <p:nvPr/>
        </p:nvSpPr>
        <p:spPr>
          <a:xfrm>
            <a:off x="0" y="0"/>
            <a:ext cx="12192120" cy="186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3200" spc="-1" strike="noStrike">
                <a:solidFill>
                  <a:srgbClr val="ff0000"/>
                </a:solidFill>
                <a:latin typeface="Arial"/>
              </a:rPr>
              <a:t>ШАГ 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ru-RU" sz="2800" spc="-1" strike="noStrike">
                <a:solidFill>
                  <a:srgbClr val="ff0000"/>
                </a:solidFill>
                <a:latin typeface="Arial"/>
              </a:rPr>
              <a:t>Сравнение полученной верхней границы систематической погрешности и нормированного (рекомендованного, заявленного) . Полученное значение должно быть меньше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10126800" y="5921280"/>
            <a:ext cx="1692000" cy="936720"/>
          </a:xfrm>
          <a:prstGeom prst="ellipse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10699920" y="1577880"/>
            <a:ext cx="695160" cy="4343400"/>
          </a:xfrm>
          <a:custGeom>
            <a:avLst/>
            <a:gdLst/>
            <a:ahLst/>
            <a:rect l="l" t="t" r="r" b="b"/>
            <a:pathLst>
              <a:path w="438" h="2736">
                <a:moveTo>
                  <a:pt x="129" y="0"/>
                </a:moveTo>
                <a:cubicBezTo>
                  <a:pt x="283" y="290"/>
                  <a:pt x="438" y="580"/>
                  <a:pt x="417" y="1036"/>
                </a:cubicBezTo>
                <a:cubicBezTo>
                  <a:pt x="396" y="1492"/>
                  <a:pt x="72" y="2443"/>
                  <a:pt x="0" y="2736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Объект 2" descr=""/>
          <p:cNvPicPr/>
          <p:nvPr/>
        </p:nvPicPr>
        <p:blipFill>
          <a:blip r:embed="rId1"/>
          <a:stretch/>
        </p:blipFill>
        <p:spPr>
          <a:xfrm>
            <a:off x="60480" y="1090440"/>
            <a:ext cx="12137760" cy="6274080"/>
          </a:xfrm>
          <a:prstGeom prst="rect">
            <a:avLst/>
          </a:prstGeom>
          <a:ln w="0">
            <a:noFill/>
          </a:ln>
        </p:spPr>
      </p:pic>
      <p:cxnSp>
        <p:nvCxnSpPr>
          <p:cNvPr id="276" name="Прямая со стрелкой 52"/>
          <p:cNvCxnSpPr/>
          <p:nvPr/>
        </p:nvCxnSpPr>
        <p:spPr>
          <a:xfrm flipV="1">
            <a:off x="1092240" y="4031640"/>
            <a:ext cx="10740240" cy="59400"/>
          </a:xfrm>
          <a:prstGeom prst="straightConnector1">
            <a:avLst/>
          </a:prstGeom>
          <a:ln w="6480">
            <a:solidFill>
              <a:srgbClr val="000000"/>
            </a:solidFill>
            <a:miter/>
            <a:tailEnd len="med" type="triangle" w="med"/>
          </a:ln>
        </p:spPr>
      </p:cxnSp>
      <p:pic>
        <p:nvPicPr>
          <p:cNvPr id="277" name="TextBox 59" descr=""/>
          <p:cNvPicPr/>
          <p:nvPr/>
        </p:nvPicPr>
        <p:blipFill>
          <a:blip r:embed="rId2"/>
          <a:stretch/>
        </p:blipFill>
        <p:spPr>
          <a:xfrm>
            <a:off x="3108240" y="4286160"/>
            <a:ext cx="835200" cy="596880"/>
          </a:xfrm>
          <a:prstGeom prst="rect">
            <a:avLst/>
          </a:prstGeom>
          <a:ln w="0">
            <a:noFill/>
          </a:ln>
        </p:spPr>
      </p:pic>
      <p:pic>
        <p:nvPicPr>
          <p:cNvPr id="278" name="Объект 9" descr=""/>
          <p:cNvPicPr/>
          <p:nvPr/>
        </p:nvPicPr>
        <p:blipFill>
          <a:blip r:embed="rId3"/>
          <a:stretch/>
        </p:blipFill>
        <p:spPr>
          <a:xfrm>
            <a:off x="5291280" y="1859040"/>
            <a:ext cx="2712960" cy="615960"/>
          </a:xfrm>
          <a:prstGeom prst="rect">
            <a:avLst/>
          </a:prstGeom>
          <a:ln w="0">
            <a:noFill/>
          </a:ln>
        </p:spPr>
      </p:pic>
      <p:sp>
        <p:nvSpPr>
          <p:cNvPr id="279" name="Прямая соединительная линия 4"/>
          <p:cNvSpPr/>
          <p:nvPr/>
        </p:nvSpPr>
        <p:spPr>
          <a:xfrm>
            <a:off x="3398760" y="3390840"/>
            <a:ext cx="0" cy="8366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Прямая соединительная линия 7"/>
          <p:cNvSpPr/>
          <p:nvPr/>
        </p:nvSpPr>
        <p:spPr>
          <a:xfrm>
            <a:off x="2238480" y="3414600"/>
            <a:ext cx="0" cy="83844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Прямая соединительная линия 9"/>
          <p:cNvSpPr/>
          <p:nvPr/>
        </p:nvSpPr>
        <p:spPr>
          <a:xfrm>
            <a:off x="4549680" y="3432240"/>
            <a:ext cx="0" cy="830160"/>
          </a:xfrm>
          <a:prstGeom prst="line">
            <a:avLst/>
          </a:prstGeom>
          <a:ln w="3816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2" name="Прямая со стрелкой 15"/>
          <p:cNvCxnSpPr/>
          <p:nvPr/>
        </p:nvCxnSpPr>
        <p:spPr>
          <a:xfrm>
            <a:off x="2266920" y="3532320"/>
            <a:ext cx="1161360" cy="360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cxnSp>
        <p:nvCxnSpPr>
          <p:cNvPr id="283" name="Прямая со стрелкой 23"/>
          <p:cNvCxnSpPr/>
          <p:nvPr/>
        </p:nvCxnSpPr>
        <p:spPr>
          <a:xfrm>
            <a:off x="809424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sp>
        <p:nvSpPr>
          <p:cNvPr id="284" name="TextBox 17"/>
          <p:cNvSpPr/>
          <p:nvPr/>
        </p:nvSpPr>
        <p:spPr>
          <a:xfrm>
            <a:off x="2498760" y="269568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5" name="Прямая со стрелкой 26"/>
          <p:cNvCxnSpPr/>
          <p:nvPr/>
        </p:nvCxnSpPr>
        <p:spPr>
          <a:xfrm>
            <a:off x="3412800" y="3547800"/>
            <a:ext cx="1161000" cy="396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286" name="TextBox 28"/>
          <p:cNvSpPr/>
          <p:nvPr/>
        </p:nvSpPr>
        <p:spPr>
          <a:xfrm>
            <a:off x="3673440" y="2719440"/>
            <a:ext cx="8748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Δ</a:t>
            </a:r>
            <a:r>
              <a:rPr b="0" lang="ru-RU" sz="3600" spc="-1" strike="noStrike" baseline="-25000">
                <a:solidFill>
                  <a:srgbClr val="002060"/>
                </a:solidFill>
                <a:latin typeface="Times New Roman"/>
                <a:ea typeface="Times New Roman"/>
              </a:rPr>
              <a:t>эт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Прямая соединительная линия 32"/>
          <p:cNvSpPr/>
          <p:nvPr/>
        </p:nvSpPr>
        <p:spPr>
          <a:xfrm>
            <a:off x="9489960" y="3421080"/>
            <a:ext cx="14400" cy="95400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Прямая соединительная линия 42"/>
          <p:cNvSpPr/>
          <p:nvPr/>
        </p:nvSpPr>
        <p:spPr>
          <a:xfrm>
            <a:off x="8113680" y="3471840"/>
            <a:ext cx="22320" cy="89712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Прямая соединительная линия 43"/>
          <p:cNvSpPr/>
          <p:nvPr/>
        </p:nvSpPr>
        <p:spPr>
          <a:xfrm>
            <a:off x="10858680" y="3414600"/>
            <a:ext cx="14040" cy="954360"/>
          </a:xfrm>
          <a:prstGeom prst="line">
            <a:avLst/>
          </a:prstGeom>
          <a:ln w="38160">
            <a:solidFill>
              <a:srgbClr val="3857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0" name="Прямая со стрелкой 45"/>
          <p:cNvCxnSpPr/>
          <p:nvPr/>
        </p:nvCxnSpPr>
        <p:spPr>
          <a:xfrm>
            <a:off x="9504000" y="3587400"/>
            <a:ext cx="1375560" cy="1080"/>
          </a:xfrm>
          <a:prstGeom prst="straightConnector1">
            <a:avLst/>
          </a:prstGeom>
          <a:ln w="6480">
            <a:solidFill>
              <a:srgbClr val="385723"/>
            </a:solidFill>
            <a:miter/>
            <a:headEnd len="lg" type="stealth" w="lg"/>
            <a:tailEnd len="lg" type="stealth" w="lg"/>
          </a:ln>
        </p:spPr>
      </p:cxnSp>
      <p:pic>
        <p:nvPicPr>
          <p:cNvPr id="291" name="TextBox 47" descr=""/>
          <p:cNvPicPr/>
          <p:nvPr/>
        </p:nvPicPr>
        <p:blipFill>
          <a:blip r:embed="rId4"/>
          <a:stretch/>
        </p:blipFill>
        <p:spPr>
          <a:xfrm>
            <a:off x="9320040" y="4425840"/>
            <a:ext cx="525600" cy="596880"/>
          </a:xfrm>
          <a:prstGeom prst="rect">
            <a:avLst/>
          </a:prstGeom>
          <a:ln w="0">
            <a:noFill/>
          </a:ln>
        </p:spPr>
      </p:pic>
      <p:sp>
        <p:nvSpPr>
          <p:cNvPr id="292" name="Прямая соединительная линия 37"/>
          <p:cNvSpPr/>
          <p:nvPr/>
        </p:nvSpPr>
        <p:spPr>
          <a:xfrm flipV="1">
            <a:off x="3386160" y="1726920"/>
            <a:ext cx="1440" cy="166356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Прямая соединительная линия 39"/>
          <p:cNvSpPr/>
          <p:nvPr/>
        </p:nvSpPr>
        <p:spPr>
          <a:xfrm flipH="1" flipV="1">
            <a:off x="9461520" y="1738440"/>
            <a:ext cx="15840" cy="168408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4" name="Прямая со стрелкой 41"/>
          <p:cNvCxnSpPr/>
          <p:nvPr/>
        </p:nvCxnSpPr>
        <p:spPr>
          <a:xfrm>
            <a:off x="3352680" y="1794960"/>
            <a:ext cx="6122160" cy="1080"/>
          </a:xfrm>
          <a:prstGeom prst="straightConnector1">
            <a:avLst/>
          </a:prstGeom>
          <a:ln w="6480">
            <a:solidFill>
              <a:srgbClr val="002060"/>
            </a:solidFill>
            <a:miter/>
            <a:headEnd len="lg" type="stealth" w="lg"/>
            <a:tailEnd len="lg" type="stealth" w="lg"/>
          </a:ln>
        </p:spPr>
      </p:cxnSp>
      <p:sp>
        <p:nvSpPr>
          <p:cNvPr id="295" name="TextBox 55"/>
          <p:cNvSpPr/>
          <p:nvPr/>
        </p:nvSpPr>
        <p:spPr>
          <a:xfrm>
            <a:off x="8562960" y="2824200"/>
            <a:ext cx="574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57"/>
          <p:cNvSpPr/>
          <p:nvPr/>
        </p:nvSpPr>
        <p:spPr>
          <a:xfrm>
            <a:off x="10044000" y="2847960"/>
            <a:ext cx="574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3600" spc="-1" strike="noStrike">
                <a:solidFill>
                  <a:srgbClr val="385723"/>
                </a:solidFill>
                <a:latin typeface="Times New Roman"/>
                <a:ea typeface="Times New Roman"/>
              </a:rPr>
              <a:t>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Box 28"/>
          <p:cNvSpPr/>
          <p:nvPr/>
        </p:nvSpPr>
        <p:spPr>
          <a:xfrm>
            <a:off x="0" y="0"/>
            <a:ext cx="10933200" cy="10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ru-RU" sz="3600" spc="-1" strike="noStrike">
                <a:solidFill>
                  <a:srgbClr val="ff0000"/>
                </a:solidFill>
                <a:latin typeface="Arial"/>
              </a:rPr>
              <a:t>ШАГ 8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ru-RU" sz="2400" spc="-1" strike="noStrike">
                <a:solidFill>
                  <a:srgbClr val="ff0000"/>
                </a:solidFill>
                <a:latin typeface="Arial"/>
              </a:rPr>
              <a:t>Можно рассчитать относительную погрешность СИ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 30"/>
          <p:cNvSpPr/>
          <p:nvPr/>
        </p:nvSpPr>
        <p:spPr>
          <a:xfrm>
            <a:off x="0" y="5211720"/>
            <a:ext cx="12192120" cy="1646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5"/>
          <a:stretch/>
        </p:blipFill>
        <p:spPr>
          <a:xfrm>
            <a:off x="1765440" y="1549440"/>
            <a:ext cx="914400" cy="1792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300" name=""/>
          <p:cNvGraphicFramePr/>
          <p:nvPr/>
        </p:nvGraphicFramePr>
        <p:xfrm>
          <a:off x="6742080" y="5202360"/>
          <a:ext cx="3983040" cy="1009440"/>
        </p:xfrm>
        <a:graphic>
          <a:graphicData uri="http://schemas.openxmlformats.org/presentationml/2006/ole">
            <p:oleObj r:id="rId6" spid="">
              <p:embed/>
              <p:pic>
                <p:nvPicPr>
                  <p:cNvPr id="301" name="" descr=""/>
                  <p:cNvPicPr/>
                  <p:nvPr/>
                </p:nvPicPr>
                <p:blipFill>
                  <a:blip r:embed="rId7">
                    <a:alphaModFix amt="0"/>
                  </a:blip>
                  <a:stretch/>
                </p:blipFill>
                <p:spPr>
                  <a:xfrm>
                    <a:off x="6742080" y="5202360"/>
                    <a:ext cx="3983040" cy="1009440"/>
                  </a:xfrm>
                  <a:prstGeom prst="rect">
                    <a:avLst/>
                  </a:prstGeom>
                  <a:ln w="9360">
                    <a:solidFill>
                      <a:srgbClr val="993300"/>
                    </a:solidFill>
                    <a:miter/>
                  </a:ln>
                </p:spPr>
              </p:pic>
            </p:oleObj>
          </a:graphicData>
        </a:graphic>
      </p:graphicFrame>
      <p:sp>
        <p:nvSpPr>
          <p:cNvPr id="302" name="Rectangle 33"/>
          <p:cNvSpPr/>
          <p:nvPr/>
        </p:nvSpPr>
        <p:spPr>
          <a:xfrm>
            <a:off x="0" y="960480"/>
            <a:ext cx="7429680" cy="571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982800" y="5533920"/>
            <a:ext cx="50317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ru-RU" sz="2400" spc="-1" strike="noStrike">
                <a:solidFill>
                  <a:srgbClr val="0563c1"/>
                </a:solidFill>
                <a:latin typeface="Arial"/>
              </a:rPr>
              <a:t>относительная погрешность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1732</TotalTime>
  <Application>LibreOffice/7.4.6.2$Linux_X86_64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2016-09-08T14:16:29Z</dcterms:created>
  <dc:creator>Борис Михайлович Гаврилов</dc:creator>
  <dc:description/>
  <dc:language>en-US</dc:language>
  <cp:lastModifiedBy>Ryabeva</cp:lastModifiedBy>
  <dcterms:modified xsi:type="dcterms:W3CDTF">2019-02-08T00:02:47Z</dcterms:modified>
  <cp:revision>91</cp:revision>
  <dc:subject/>
  <dc:title>Калибровка. Что это ?</dc:title>
</cp:coreProperties>
</file>